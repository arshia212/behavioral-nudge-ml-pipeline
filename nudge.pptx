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5" r:id="rId5"/>
    <p:sldId id="259" r:id="rId6"/>
    <p:sldId id="260" r:id="rId7"/>
    <p:sldId id="261" r:id="rId8"/>
    <p:sldId id="263"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1"/>
    <p:restoredTop sz="79149"/>
  </p:normalViewPr>
  <p:slideViewPr>
    <p:cSldViewPr snapToGrid="0" snapToObjects="1">
      <p:cViewPr varScale="1">
        <p:scale>
          <a:sx n="94" d="100"/>
          <a:sy n="94" d="100"/>
        </p:scale>
        <p:origin x="209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6C0763-A4EF-434B-A09E-926A99B26C5C}" type="datetimeFigureOut">
              <a:rPr lang="en-US" smtClean="0"/>
              <a:t>9/28/25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0B137-4F31-2646-8466-6D1D0C533E17}" type="slidenum">
              <a:rPr lang="en-US" smtClean="0"/>
              <a:t>‹#›</a:t>
            </a:fld>
            <a:endParaRPr lang="en-US"/>
          </a:p>
        </p:txBody>
      </p:sp>
    </p:spTree>
    <p:extLst>
      <p:ext uri="{BB962C8B-B14F-4D97-AF65-F5344CB8AC3E}">
        <p14:creationId xmlns:p14="http://schemas.microsoft.com/office/powerpoint/2010/main" val="2525128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will start with a simple idea. A nudge is a small change to the way choices are presented that makes a helpful action more likely, while still leaving people free to choose I will cover three things. What nudges are and why they work in the real world. The main classifiers and frameworks teams use, including MINDSPACE, EAST, and a choice architecture taxonomy. And finally an operating approach for Alfred AI that includes an ethics check. A theme you will hear is from Inside the Nudge Unit. Start small, test honestly, scale only what works, and keep everything transparent and simple.</a:t>
            </a:r>
          </a:p>
          <a:p>
            <a:endParaRPr lang="en-US" dirty="0"/>
          </a:p>
        </p:txBody>
      </p:sp>
      <p:sp>
        <p:nvSpPr>
          <p:cNvPr id="4" name="Slide Number Placeholder 3"/>
          <p:cNvSpPr>
            <a:spLocks noGrp="1"/>
          </p:cNvSpPr>
          <p:nvPr>
            <p:ph type="sldNum" sz="quarter" idx="5"/>
          </p:nvPr>
        </p:nvSpPr>
        <p:spPr/>
        <p:txBody>
          <a:bodyPr/>
          <a:lstStyle/>
          <a:p>
            <a:fld id="{6780B137-4F31-2646-8466-6D1D0C533E17}" type="slidenum">
              <a:rPr lang="en-US" smtClean="0"/>
              <a:t>1</a:t>
            </a:fld>
            <a:endParaRPr lang="en-US"/>
          </a:p>
        </p:txBody>
      </p:sp>
    </p:spTree>
    <p:extLst>
      <p:ext uri="{BB962C8B-B14F-4D97-AF65-F5344CB8AC3E}">
        <p14:creationId xmlns:p14="http://schemas.microsoft.com/office/powerpoint/2010/main" val="1880288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Classifiers and frameworks give us a shared vocabulary and a repeatable way to build those improvements.</a:t>
            </a:r>
            <a:br>
              <a:rPr lang="en-US" dirty="0"/>
            </a:br>
            <a:r>
              <a:rPr lang="en-US" dirty="0"/>
              <a:t>A classifier is simply a label for what kind of nudge we are using. For example, a default, a social norm, or a commitment. A framework is the checklist or process we follow to make sure the nudge is easy to do, visible, social when appropriate, and timed well.</a:t>
            </a:r>
            <a:br>
              <a:rPr lang="en-US" dirty="0"/>
            </a:br>
            <a:r>
              <a:rPr lang="en-US" dirty="0"/>
              <a:t>Why this matters for us. A common playbook lowers debate, shortens reviews, and makes experiments faster and cleaner. The expected outcomes are quicker user progress through key journeys, measurable lifts in completions or attendance, and lower costs because nudges are lightweight.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nudge adjusts the choice environment so that the preferred action is more likely, without removing any options. It does not force a choice and it does not rely on large financial incentives. It works because it matches how people actually behave. Real people face time pressure, limited attention, and small hassles that stop otherwise good intentions.</a:t>
            </a:r>
            <a:br>
              <a:rPr lang="en-US" dirty="0"/>
            </a:br>
            <a:r>
              <a:rPr lang="en-US" dirty="0"/>
              <a:t>Classic examples include clearer letters that highlight one action, pre selected options that are easy to accept or change, and reminders sent right before the moment of action rather than hours later.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Classifiers label what the nudge is. Frameworks describe how we build, deliver, and evaluate it. We will tag each idea with a MINDSPACE label and an info/structure/assistance family, add a UI pattern label if relevant, and attach an ethical risk tag. Then we use EAST and our operating framework (catalog + one page + A/B test) to implement and measure.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MINDSPACE is a memory aid that lists nine psychological levers.</a:t>
            </a:r>
            <a:br>
              <a:rPr lang="en-US" dirty="0"/>
            </a:br>
            <a:r>
              <a:rPr lang="en-US" dirty="0"/>
              <a:t>Messenger. People respond differently depending on who speaks. A note from a clinician may carry more weight than a generic system message.</a:t>
            </a:r>
            <a:br>
              <a:rPr lang="en-US" dirty="0"/>
            </a:br>
            <a:r>
              <a:rPr lang="en-US" dirty="0"/>
              <a:t>Incentives. People react more to potential losses than to equal gains. Present the missed benefit if the action is not taken, but keep it respectful.</a:t>
            </a:r>
            <a:br>
              <a:rPr lang="en-US" dirty="0"/>
            </a:br>
            <a:r>
              <a:rPr lang="en-US" dirty="0"/>
              <a:t>Norms. Tell people what others like them chose. For example, most patients like you scheduled within seven days.</a:t>
            </a:r>
            <a:br>
              <a:rPr lang="en-US" dirty="0"/>
            </a:br>
            <a:r>
              <a:rPr lang="en-US" dirty="0"/>
              <a:t>Defaults. Make the helpful option the pre selected choice, with a clear opt out.</a:t>
            </a:r>
            <a:br>
              <a:rPr lang="en-US" dirty="0"/>
            </a:br>
            <a:r>
              <a:rPr lang="en-US" dirty="0"/>
              <a:t>Salience. Make the next step stand out. Use plain words and a single large button.</a:t>
            </a:r>
            <a:br>
              <a:rPr lang="en-US" dirty="0"/>
            </a:br>
            <a:r>
              <a:rPr lang="en-US" dirty="0"/>
              <a:t>Priming. Small cues in context can prepare someone for action. Keep this subtle and honest.</a:t>
            </a:r>
            <a:br>
              <a:rPr lang="en-US" dirty="0"/>
            </a:br>
            <a:r>
              <a:rPr lang="en-US" dirty="0"/>
              <a:t>Affect. Tone and emotion matter. Friendly and calm language beats harsh language.</a:t>
            </a:r>
            <a:br>
              <a:rPr lang="en-US" dirty="0"/>
            </a:br>
            <a:r>
              <a:rPr lang="en-US" dirty="0"/>
              <a:t>Commitments. Invite users to make a small pledge and follow up on it.</a:t>
            </a:r>
            <a:br>
              <a:rPr lang="en-US" dirty="0"/>
            </a:br>
            <a:r>
              <a:rPr lang="en-US" dirty="0"/>
              <a:t>Ego. People like to act in line with their identity and goals.</a:t>
            </a:r>
            <a:br>
              <a:rPr lang="en-US" dirty="0"/>
            </a:br>
            <a:r>
              <a:rPr lang="en-US" dirty="0"/>
              <a:t>When we consider a nudge, we label its main lever. This shared label helps product, design, data, and compliance review the idea quickly and compare alternatives.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EAST is the practical checklist for execution.</a:t>
            </a:r>
            <a:br>
              <a:rPr lang="en-US" dirty="0"/>
            </a:br>
            <a:r>
              <a:rPr lang="en-US" dirty="0"/>
              <a:t>Easy. Remove steps. Use one tap actions. Pre fill known information. Limit the number of fields. If it is not easy, it will not happen.</a:t>
            </a:r>
            <a:br>
              <a:rPr lang="en-US" dirty="0"/>
            </a:br>
            <a:r>
              <a:rPr lang="en-US" dirty="0"/>
              <a:t>Attractive. Make the desired path visually clear. Put the button high on the screen, use short copy that states the benefit first, and avoid clutter.</a:t>
            </a:r>
            <a:br>
              <a:rPr lang="en-US" dirty="0"/>
            </a:br>
            <a:r>
              <a:rPr lang="en-US" dirty="0"/>
              <a:t>Social. Where appropriate, show what peers did or ask for a light commitment. Keep it honest and do not overclaim.</a:t>
            </a:r>
            <a:br>
              <a:rPr lang="en-US" dirty="0"/>
            </a:br>
            <a:r>
              <a:rPr lang="en-US" dirty="0"/>
              <a:t>Timely. Send prompts when people are naturally receptive. That can be right before a scheduled event, in the same session as a related task, or at a regular time the user usually engages.</a:t>
            </a:r>
            <a:br>
              <a:rPr lang="en-US" dirty="0"/>
            </a:br>
            <a:r>
              <a:rPr lang="en-US" dirty="0"/>
              <a:t>Before launch, we run an EAST check. Is the flow easy enough. Is the call to action attractive and clear. Is there an appropriate social element. Is the timing right. This raises quality without slowing us down.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taxonomy groups techniques into three families.</a:t>
            </a:r>
            <a:br>
              <a:rPr lang="en-US" dirty="0"/>
            </a:br>
            <a:r>
              <a:rPr lang="en-US" dirty="0"/>
              <a:t>Decision information. How we present facts and choices. Examples are framing the choice, showing social proof, and giving feedback.</a:t>
            </a:r>
            <a:br>
              <a:rPr lang="en-US" dirty="0"/>
            </a:br>
            <a:r>
              <a:rPr lang="en-US" dirty="0"/>
              <a:t>Decision structure. How the options themselves are arranged. Examples are defaults, the number of choices, and how much effort each choice takes.</a:t>
            </a:r>
            <a:br>
              <a:rPr lang="en-US" dirty="0"/>
            </a:br>
            <a:r>
              <a:rPr lang="en-US" dirty="0"/>
              <a:t>Decision assistance. Tools that help follow through. Examples are reminders, planning prompts, and commitment devices.</a:t>
            </a:r>
            <a:br>
              <a:rPr lang="en-US" dirty="0"/>
            </a:br>
            <a:r>
              <a:rPr lang="en-US" dirty="0"/>
              <a:t>The reason this matters is that teams often focus only on messaging. The taxonomy reminds us to also consider structure and assistance. For instance, a reminder message may help a little, but a helpful default and a one tap path will often help more. In reviews we should ask if the proposal includes at least one technique from information, one from structure, and one from assistance when possible.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Legitimacy matters for users and for our brand. A light ethics check early prevents dark pattern risk and supports long term adoption.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catalog creates a shared inventory and speeds reviews. The one page template aligns product design data and compliance on one sheet. This workflow mirrors lessons from Inside the Nudge Unit: start small and scale proven wins.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dirty="0"/>
              <a:t>Nudge Classifiers and Frameworks</a:t>
            </a:r>
          </a:p>
        </p:txBody>
      </p:sp>
      <p:sp>
        <p:nvSpPr>
          <p:cNvPr id="3" name="Subtitle 2"/>
          <p:cNvSpPr>
            <a:spLocks noGrp="1"/>
          </p:cNvSpPr>
          <p:nvPr>
            <p:ph type="subTitle" idx="1"/>
          </p:nvPr>
        </p:nvSpPr>
        <p:spPr/>
        <p:txBody>
          <a:bodyPr/>
          <a:lstStyle/>
          <a:p>
            <a:r>
              <a:rPr lang="en-US" dirty="0"/>
              <a:t>Arshia Thota</a:t>
            </a:r>
            <a:r>
              <a:rPr dirty="0"/>
              <a:t> • </a:t>
            </a:r>
            <a:r>
              <a:rPr lang="en-US" dirty="0"/>
              <a:t>09/21/2025</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rPr dirty="0"/>
              <a:t>Nudges are small design changes that increase desired actions while preserving choice</a:t>
            </a:r>
          </a:p>
          <a:p>
            <a:r>
              <a:rPr dirty="0"/>
              <a:t>Classifiers and frameworks give a shared language and a repeatable process</a:t>
            </a:r>
          </a:p>
          <a:p>
            <a:r>
              <a:rPr dirty="0"/>
              <a:t>Immediate value: faster experiments, lower friction for users, measurable lifts at low cost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 nudge and why it works</a:t>
            </a:r>
          </a:p>
        </p:txBody>
      </p:sp>
      <p:sp>
        <p:nvSpPr>
          <p:cNvPr id="3" name="Content Placeholder 2"/>
          <p:cNvSpPr>
            <a:spLocks noGrp="1"/>
          </p:cNvSpPr>
          <p:nvPr>
            <p:ph idx="1"/>
          </p:nvPr>
        </p:nvSpPr>
        <p:spPr/>
        <p:txBody>
          <a:bodyPr/>
          <a:lstStyle/>
          <a:p>
            <a:r>
              <a:t>Definition: adjust the choice environment so the preferred action is more likely without removing options</a:t>
            </a:r>
          </a:p>
          <a:p>
            <a:r>
              <a:t>People are busy and bounded; friction often beats intention</a:t>
            </a:r>
          </a:p>
          <a:p>
            <a:r>
              <a:t>Inside the Nudge Unit lessons: start small, test rigorously, scale only what works, keep changes simple and transparent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Classifiers vs Frameworks — quick map</a:t>
            </a:r>
          </a:p>
        </p:txBody>
      </p:sp>
      <p:sp>
        <p:nvSpPr>
          <p:cNvPr id="3" name="Content Placeholder 2"/>
          <p:cNvSpPr>
            <a:spLocks noGrp="1"/>
          </p:cNvSpPr>
          <p:nvPr>
            <p:ph idx="1"/>
          </p:nvPr>
        </p:nvSpPr>
        <p:spPr/>
        <p:txBody>
          <a:bodyPr>
            <a:normAutofit/>
          </a:bodyPr>
          <a:lstStyle/>
          <a:p>
            <a:r>
              <a:rPr sz="1800" dirty="0"/>
              <a:t>Classifiers (the what)</a:t>
            </a:r>
          </a:p>
          <a:p>
            <a:pPr lvl="1"/>
            <a:r>
              <a:rPr sz="1800" dirty="0"/>
              <a:t>MINDSPACE: mechanism labels (Messenger, Incentives, Norms, Defaults, Salience, Priming, Affect, Commitments, Ego)</a:t>
            </a:r>
          </a:p>
          <a:p>
            <a:pPr lvl="1"/>
            <a:r>
              <a:rPr sz="1800" dirty="0"/>
              <a:t>Choice-architecture families: Information, Structure, Assistance</a:t>
            </a:r>
          </a:p>
          <a:p>
            <a:pPr lvl="1"/>
            <a:r>
              <a:rPr sz="1800" dirty="0"/>
              <a:t>Digital UI patterns: preselection/defaults, ordering, microcopy, visual salience, just-in-time reminders</a:t>
            </a:r>
          </a:p>
          <a:p>
            <a:pPr lvl="1"/>
            <a:r>
              <a:rPr sz="1800" dirty="0"/>
              <a:t>Ethical risk tag: transparency × mode of influence (fast vs deliberative)</a:t>
            </a:r>
          </a:p>
          <a:p>
            <a:r>
              <a:rPr sz="1800" dirty="0"/>
              <a:t>Frameworks (the how)</a:t>
            </a:r>
          </a:p>
          <a:p>
            <a:pPr lvl="1"/>
            <a:r>
              <a:rPr sz="1800" dirty="0"/>
              <a:t>EAST: Easy, Attractive, Social, Timely (plus build–test cycle)</a:t>
            </a:r>
          </a:p>
          <a:p>
            <a:pPr lvl="1"/>
            <a:r>
              <a:rPr sz="1800" dirty="0"/>
              <a:t>Operating: nudge catalog + one-page template + small A/B tests with guardrails</a:t>
            </a:r>
          </a:p>
          <a:p>
            <a:pPr lvl="1"/>
            <a:r>
              <a:rPr sz="1800" dirty="0"/>
              <a:t>Governance: transparency, opt-out, fairness checks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MINDSPACE: mechanism lens</a:t>
            </a:r>
          </a:p>
        </p:txBody>
      </p:sp>
      <p:sp>
        <p:nvSpPr>
          <p:cNvPr id="3" name="Content Placeholder 2"/>
          <p:cNvSpPr>
            <a:spLocks noGrp="1"/>
          </p:cNvSpPr>
          <p:nvPr>
            <p:ph idx="1"/>
          </p:nvPr>
        </p:nvSpPr>
        <p:spPr/>
        <p:txBody>
          <a:bodyPr>
            <a:normAutofit fontScale="92500" lnSpcReduction="10000"/>
          </a:bodyPr>
          <a:lstStyle/>
          <a:p>
            <a:r>
              <a:t>Messenger: who communicates matters</a:t>
            </a:r>
          </a:p>
          <a:p>
            <a:r>
              <a:t>Incentives: reference points and loss aversion</a:t>
            </a:r>
          </a:p>
          <a:p>
            <a:r>
              <a:t>Norms: show what others do</a:t>
            </a:r>
          </a:p>
          <a:p>
            <a:r>
              <a:t>Defaults: set a beneficial option as preselected with easy opt out</a:t>
            </a:r>
          </a:p>
          <a:p>
            <a:r>
              <a:t>Salience and Priming: make the key action stand out and cue it</a:t>
            </a:r>
          </a:p>
          <a:p>
            <a:r>
              <a:t>Affect, Commitments, Ego: emotion, pledges, and identity alignment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EAST: delivery checklist</a:t>
            </a:r>
          </a:p>
        </p:txBody>
      </p:sp>
      <p:sp>
        <p:nvSpPr>
          <p:cNvPr id="3" name="Content Placeholder 2"/>
          <p:cNvSpPr>
            <a:spLocks noGrp="1"/>
          </p:cNvSpPr>
          <p:nvPr>
            <p:ph idx="1"/>
          </p:nvPr>
        </p:nvSpPr>
        <p:spPr/>
        <p:txBody>
          <a:bodyPr/>
          <a:lstStyle/>
          <a:p>
            <a:r>
              <a:t>Easy: remove steps and reduce hassle</a:t>
            </a:r>
          </a:p>
          <a:p>
            <a:r>
              <a:t>Attractive: highlight the desired path in copy and layout</a:t>
            </a:r>
          </a:p>
          <a:p>
            <a:r>
              <a:t>Social: use norms and light commitments</a:t>
            </a:r>
          </a:p>
          <a:p>
            <a:r>
              <a:t>Timely: prompt at receptive moments such as right before a task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Choice architecture taxonomy: design surface</a:t>
            </a:r>
          </a:p>
        </p:txBody>
      </p:sp>
      <p:sp>
        <p:nvSpPr>
          <p:cNvPr id="3" name="Content Placeholder 2"/>
          <p:cNvSpPr>
            <a:spLocks noGrp="1"/>
          </p:cNvSpPr>
          <p:nvPr>
            <p:ph idx="1"/>
          </p:nvPr>
        </p:nvSpPr>
        <p:spPr/>
        <p:txBody>
          <a:bodyPr/>
          <a:lstStyle/>
          <a:p>
            <a:r>
              <a:t>Decision information: framing, social proof, feedback</a:t>
            </a:r>
          </a:p>
          <a:p>
            <a:r>
              <a:t>Decision structure: defaults, partitioning, effort settings, range</a:t>
            </a:r>
          </a:p>
          <a:p>
            <a:r>
              <a:t>Decision assistance: reminders, planning prompts, commitment devices</a:t>
            </a:r>
          </a:p>
          <a:p>
            <a:r>
              <a:t>Combine families for stronger effects, not only messages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Ethics and governance</a:t>
            </a:r>
          </a:p>
        </p:txBody>
      </p:sp>
      <p:sp>
        <p:nvSpPr>
          <p:cNvPr id="3" name="Content Placeholder 2"/>
          <p:cNvSpPr>
            <a:spLocks noGrp="1"/>
          </p:cNvSpPr>
          <p:nvPr>
            <p:ph idx="1"/>
          </p:nvPr>
        </p:nvSpPr>
        <p:spPr/>
        <p:txBody>
          <a:bodyPr/>
          <a:lstStyle/>
          <a:p>
            <a:r>
              <a:t>Tag each nudge by transparency and mode of influence to assess manipulation risk</a:t>
            </a:r>
          </a:p>
          <a:p>
            <a:r>
              <a:t>Require clear explanations of why a user received a prompt and easy opt out</a:t>
            </a:r>
          </a:p>
          <a:p>
            <a:r>
              <a:t>Run fairness checks and document intended benefit before launch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How we will use this </a:t>
            </a:r>
            <a:r>
              <a:rPr lang="en-US" dirty="0"/>
              <a:t>-</a:t>
            </a:r>
            <a:r>
              <a:rPr dirty="0"/>
              <a:t> Alfred AI</a:t>
            </a:r>
          </a:p>
        </p:txBody>
      </p:sp>
      <p:sp>
        <p:nvSpPr>
          <p:cNvPr id="3" name="Content Placeholder 2"/>
          <p:cNvSpPr>
            <a:spLocks noGrp="1"/>
          </p:cNvSpPr>
          <p:nvPr>
            <p:ph idx="1"/>
          </p:nvPr>
        </p:nvSpPr>
        <p:spPr/>
        <p:txBody>
          <a:bodyPr/>
          <a:lstStyle/>
          <a:p>
            <a:r>
              <a:t>Nudge catalog fields: mechanism label, design family, EAST checks, UI pattern and channel, ethics tag, evidence link</a:t>
            </a:r>
          </a:p>
          <a:p>
            <a:r>
              <a:t>One page template: problem and metric, audience and context, chosen nudge, delivery plan, ethics notes, experiment design</a:t>
            </a:r>
          </a:p>
          <a:p>
            <a:r>
              <a:t>Workflow: ideate, tag, design, quick review, test, learn, scale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230</TotalTime>
  <Words>1525</Words>
  <Application>Microsoft Macintosh PowerPoint</Application>
  <PresentationFormat>On-screen Show (4:3)</PresentationFormat>
  <Paragraphs>55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Office Theme</vt:lpstr>
      <vt:lpstr>Nudge Classifiers and Frameworks</vt:lpstr>
      <vt:lpstr>Executive summary</vt:lpstr>
      <vt:lpstr>What is a nudge and why it works</vt:lpstr>
      <vt:lpstr>Classifiers vs Frameworks — quick map</vt:lpstr>
      <vt:lpstr>MINDSPACE: mechanism lens</vt:lpstr>
      <vt:lpstr>EAST: delivery checklist</vt:lpstr>
      <vt:lpstr>Choice architecture taxonomy: design surface</vt:lpstr>
      <vt:lpstr>Ethics and governance</vt:lpstr>
      <vt:lpstr>How we will use this - Alfred AI</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Arshia Yogini Thota</cp:lastModifiedBy>
  <cp:revision>2</cp:revision>
  <dcterms:created xsi:type="dcterms:W3CDTF">2013-01-27T09:14:16Z</dcterms:created>
  <dcterms:modified xsi:type="dcterms:W3CDTF">2025-09-28T22:31:32Z</dcterms:modified>
  <cp:category/>
</cp:coreProperties>
</file>