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</p:sldIdLst>
  <p:sldSz cy="5143500" cx="9144000"/>
  <p:notesSz cx="6858000" cy="9144000"/>
  <p:embeddedFontLst>
    <p:embeddedFont>
      <p:font typeface="Raleway"/>
      <p:regular r:id="rId8"/>
      <p:bold r:id="rId9"/>
      <p:italic r:id="rId10"/>
      <p:boldItalic r:id="rId11"/>
    </p:embeddedFont>
    <p:embeddedFont>
      <p:font typeface="Syne ExtraBold"/>
      <p:bold r:id="rId12"/>
    </p:embeddedFont>
    <p:embeddedFont>
      <p:font typeface="Albert Sans"/>
      <p:regular r:id="rId13"/>
      <p:bold r:id="rId14"/>
      <p:italic r:id="rId15"/>
      <p:boldItalic r:id="rId16"/>
    </p:embeddedFont>
    <p:embeddedFont>
      <p:font typeface="Viaoda Libre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boldItalic.fntdata"/><Relationship Id="rId10" Type="http://schemas.openxmlformats.org/officeDocument/2006/relationships/font" Target="fonts/Raleway-italic.fntdata"/><Relationship Id="rId13" Type="http://schemas.openxmlformats.org/officeDocument/2006/relationships/font" Target="fonts/AlbertSans-regular.fntdata"/><Relationship Id="rId12" Type="http://schemas.openxmlformats.org/officeDocument/2006/relationships/font" Target="fonts/SyneExtra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aleway-bold.fntdata"/><Relationship Id="rId15" Type="http://schemas.openxmlformats.org/officeDocument/2006/relationships/font" Target="fonts/AlbertSans-italic.fntdata"/><Relationship Id="rId14" Type="http://schemas.openxmlformats.org/officeDocument/2006/relationships/font" Target="fonts/AlbertSans-bold.fntdata"/><Relationship Id="rId17" Type="http://schemas.openxmlformats.org/officeDocument/2006/relationships/font" Target="fonts/ViaodaLibre-regular.fntdata"/><Relationship Id="rId16" Type="http://schemas.openxmlformats.org/officeDocument/2006/relationships/font" Target="fonts/Albert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2ff4209b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2ff4209b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c3213ee1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3c3213ee1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21486c3c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421486c3c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" type="subTitle"/>
          </p:nvPr>
        </p:nvSpPr>
        <p:spPr>
          <a:xfrm flipH="1">
            <a:off x="457200" y="4391750"/>
            <a:ext cx="4215600" cy="38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 flipH="1" rot="130">
            <a:off x="457525" y="368058"/>
            <a:ext cx="7931100" cy="2430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500"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pic>
        <p:nvPicPr>
          <p:cNvPr id="11" name="Google Shape;11;p2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>
            <a:off x="3834475" y="1266252"/>
            <a:ext cx="6626048" cy="5777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 flipH="1">
            <a:off x="2478600" y="1790900"/>
            <a:ext cx="6208200" cy="2912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b="0"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457200" y="440450"/>
            <a:ext cx="1295100" cy="763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b="0" i="1"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pic>
        <p:nvPicPr>
          <p:cNvPr id="15" name="Google Shape;15;p3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8601403">
            <a:off x="2378586" y="-4229028"/>
            <a:ext cx="8776077" cy="7652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" type="body"/>
          </p:nvPr>
        </p:nvSpPr>
        <p:spPr>
          <a:xfrm>
            <a:off x="457200" y="1221475"/>
            <a:ext cx="8233800" cy="13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arker Grotesque SemiBold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idx="1" type="subTitle"/>
          </p:nvPr>
        </p:nvSpPr>
        <p:spPr>
          <a:xfrm>
            <a:off x="2026950" y="3196950"/>
            <a:ext cx="50901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2" type="subTitle"/>
          </p:nvPr>
        </p:nvSpPr>
        <p:spPr>
          <a:xfrm>
            <a:off x="2026950" y="1359575"/>
            <a:ext cx="50901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3" type="subTitle"/>
          </p:nvPr>
        </p:nvSpPr>
        <p:spPr>
          <a:xfrm>
            <a:off x="2026950" y="3546450"/>
            <a:ext cx="5090100" cy="8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4" type="subTitle"/>
          </p:nvPr>
        </p:nvSpPr>
        <p:spPr>
          <a:xfrm>
            <a:off x="2026950" y="1709075"/>
            <a:ext cx="5090100" cy="8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12325"/>
            <a:ext cx="82296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25" name="Google Shape;25;p5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2199912">
            <a:off x="-3751676" y="-381272"/>
            <a:ext cx="6626045" cy="5777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-5810095">
            <a:off x="-1681503" y="-1718043"/>
            <a:ext cx="4467740" cy="389573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053700" y="1704950"/>
            <a:ext cx="4512900" cy="28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>
            <p:ph idx="2" type="pic"/>
          </p:nvPr>
        </p:nvSpPr>
        <p:spPr>
          <a:xfrm>
            <a:off x="0" y="2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468950" y="370700"/>
            <a:ext cx="2841900" cy="73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9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1284000" y="1952850"/>
            <a:ext cx="4454700" cy="7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subTitle"/>
          </p:nvPr>
        </p:nvSpPr>
        <p:spPr>
          <a:xfrm>
            <a:off x="1284000" y="2816250"/>
            <a:ext cx="4454700" cy="37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hasCustomPrompt="1" type="title"/>
          </p:nvPr>
        </p:nvSpPr>
        <p:spPr>
          <a:xfrm>
            <a:off x="2576538" y="1292813"/>
            <a:ext cx="677700" cy="40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/>
          <p:nvPr>
            <p:ph idx="1" type="subTitle"/>
          </p:nvPr>
        </p:nvSpPr>
        <p:spPr>
          <a:xfrm>
            <a:off x="3214064" y="1288025"/>
            <a:ext cx="335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8" name="Google Shape;48;p13"/>
          <p:cNvSpPr txBox="1"/>
          <p:nvPr>
            <p:ph hasCustomPrompt="1" idx="2" type="title"/>
          </p:nvPr>
        </p:nvSpPr>
        <p:spPr>
          <a:xfrm>
            <a:off x="2576538" y="2187738"/>
            <a:ext cx="677700" cy="40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/>
          <p:nvPr>
            <p:ph idx="3" type="subTitle"/>
          </p:nvPr>
        </p:nvSpPr>
        <p:spPr>
          <a:xfrm>
            <a:off x="3214064" y="2152675"/>
            <a:ext cx="335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hasCustomPrompt="1" idx="4" type="title"/>
          </p:nvPr>
        </p:nvSpPr>
        <p:spPr>
          <a:xfrm>
            <a:off x="2576538" y="3082675"/>
            <a:ext cx="677700" cy="40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/>
          <p:nvPr>
            <p:ph idx="5" type="subTitle"/>
          </p:nvPr>
        </p:nvSpPr>
        <p:spPr>
          <a:xfrm>
            <a:off x="3214064" y="3077888"/>
            <a:ext cx="335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hasCustomPrompt="1" idx="6" type="title"/>
          </p:nvPr>
        </p:nvSpPr>
        <p:spPr>
          <a:xfrm>
            <a:off x="2576538" y="3937813"/>
            <a:ext cx="677700" cy="40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/>
          <p:nvPr>
            <p:ph idx="7" type="subTitle"/>
          </p:nvPr>
        </p:nvSpPr>
        <p:spPr>
          <a:xfrm>
            <a:off x="3214064" y="3933025"/>
            <a:ext cx="335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8"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55" name="Google Shape;55;p13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10523439">
            <a:off x="6530752" y="569101"/>
            <a:ext cx="6626046" cy="5777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925650" y="1248050"/>
            <a:ext cx="7292700" cy="18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457200" y="3445725"/>
            <a:ext cx="8113800" cy="1275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59" name="Google Shape;59;p14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-2081560">
            <a:off x="3620825" y="2570478"/>
            <a:ext cx="6626048" cy="577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845200" y="1199375"/>
            <a:ext cx="4620300" cy="21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63" name="Google Shape;63;p15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3072118">
            <a:off x="-2614977" y="-1976735"/>
            <a:ext cx="4433905" cy="386622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/>
          <p:nvPr>
            <p:ph idx="2" type="pic"/>
          </p:nvPr>
        </p:nvSpPr>
        <p:spPr>
          <a:xfrm>
            <a:off x="5782800" y="1249550"/>
            <a:ext cx="3361200" cy="3894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6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-8424634">
            <a:off x="172170" y="-2061694"/>
            <a:ext cx="4599704" cy="401078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7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4050186">
            <a:off x="7011650" y="-2139285"/>
            <a:ext cx="6626046" cy="577770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7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idx="1" type="subTitle"/>
          </p:nvPr>
        </p:nvSpPr>
        <p:spPr>
          <a:xfrm>
            <a:off x="2535450" y="1623725"/>
            <a:ext cx="413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2" type="subTitle"/>
          </p:nvPr>
        </p:nvSpPr>
        <p:spPr>
          <a:xfrm>
            <a:off x="2535450" y="2833200"/>
            <a:ext cx="413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3" type="subTitle"/>
          </p:nvPr>
        </p:nvSpPr>
        <p:spPr>
          <a:xfrm>
            <a:off x="2535450" y="4044525"/>
            <a:ext cx="413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4" type="subTitle"/>
          </p:nvPr>
        </p:nvSpPr>
        <p:spPr>
          <a:xfrm>
            <a:off x="2535450" y="1302750"/>
            <a:ext cx="4131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6" name="Google Shape;76;p18"/>
          <p:cNvSpPr txBox="1"/>
          <p:nvPr>
            <p:ph idx="5" type="subTitle"/>
          </p:nvPr>
        </p:nvSpPr>
        <p:spPr>
          <a:xfrm>
            <a:off x="2535450" y="3723550"/>
            <a:ext cx="4131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7" name="Google Shape;77;p18"/>
          <p:cNvSpPr txBox="1"/>
          <p:nvPr>
            <p:ph idx="6" type="subTitle"/>
          </p:nvPr>
        </p:nvSpPr>
        <p:spPr>
          <a:xfrm>
            <a:off x="2535450" y="2513150"/>
            <a:ext cx="4131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8" name="Google Shape;78;p18"/>
          <p:cNvSpPr txBox="1"/>
          <p:nvPr>
            <p:ph type="title"/>
          </p:nvPr>
        </p:nvSpPr>
        <p:spPr>
          <a:xfrm>
            <a:off x="486150" y="212325"/>
            <a:ext cx="81717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79" name="Google Shape;79;p18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4361546">
            <a:off x="5069624" y="2708649"/>
            <a:ext cx="6626049" cy="577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idx="1" type="subTitle"/>
          </p:nvPr>
        </p:nvSpPr>
        <p:spPr>
          <a:xfrm>
            <a:off x="1388993" y="1626476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2" type="subTitle"/>
          </p:nvPr>
        </p:nvSpPr>
        <p:spPr>
          <a:xfrm>
            <a:off x="4982696" y="1626476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3" type="subTitle"/>
          </p:nvPr>
        </p:nvSpPr>
        <p:spPr>
          <a:xfrm>
            <a:off x="1388993" y="2816631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4" type="subTitle"/>
          </p:nvPr>
        </p:nvSpPr>
        <p:spPr>
          <a:xfrm>
            <a:off x="4982696" y="4006823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5" type="subTitle"/>
          </p:nvPr>
        </p:nvSpPr>
        <p:spPr>
          <a:xfrm>
            <a:off x="1388990" y="4006873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6" type="subTitle"/>
          </p:nvPr>
        </p:nvSpPr>
        <p:spPr>
          <a:xfrm>
            <a:off x="4982698" y="2816631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7" type="subTitle"/>
          </p:nvPr>
        </p:nvSpPr>
        <p:spPr>
          <a:xfrm>
            <a:off x="1388998" y="1345450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8" name="Google Shape;88;p19"/>
          <p:cNvSpPr txBox="1"/>
          <p:nvPr>
            <p:ph idx="8" type="subTitle"/>
          </p:nvPr>
        </p:nvSpPr>
        <p:spPr>
          <a:xfrm>
            <a:off x="4982698" y="1345450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9" name="Google Shape;89;p19"/>
          <p:cNvSpPr txBox="1"/>
          <p:nvPr>
            <p:ph idx="9" type="subTitle"/>
          </p:nvPr>
        </p:nvSpPr>
        <p:spPr>
          <a:xfrm>
            <a:off x="1388988" y="3725847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0" name="Google Shape;90;p19"/>
          <p:cNvSpPr txBox="1"/>
          <p:nvPr>
            <p:ph idx="13" type="subTitle"/>
          </p:nvPr>
        </p:nvSpPr>
        <p:spPr>
          <a:xfrm>
            <a:off x="1388998" y="2535655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idx="14" type="subTitle"/>
          </p:nvPr>
        </p:nvSpPr>
        <p:spPr>
          <a:xfrm>
            <a:off x="4982705" y="3725847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5" type="subTitle"/>
          </p:nvPr>
        </p:nvSpPr>
        <p:spPr>
          <a:xfrm>
            <a:off x="4982702" y="2535655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type="title"/>
          </p:nvPr>
        </p:nvSpPr>
        <p:spPr>
          <a:xfrm>
            <a:off x="457200" y="212325"/>
            <a:ext cx="81717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94" name="Google Shape;94;p19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-10217320">
            <a:off x="5733322" y="-2469272"/>
            <a:ext cx="6626053" cy="577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hasCustomPrompt="1" type="title"/>
          </p:nvPr>
        </p:nvSpPr>
        <p:spPr>
          <a:xfrm flipH="1">
            <a:off x="457200" y="535613"/>
            <a:ext cx="3418200" cy="75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i="1" sz="4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7" name="Google Shape;97;p20"/>
          <p:cNvSpPr txBox="1"/>
          <p:nvPr>
            <p:ph idx="1" type="subTitle"/>
          </p:nvPr>
        </p:nvSpPr>
        <p:spPr>
          <a:xfrm flipH="1">
            <a:off x="457200" y="1143166"/>
            <a:ext cx="3418200" cy="30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hasCustomPrompt="1" idx="2" type="title"/>
          </p:nvPr>
        </p:nvSpPr>
        <p:spPr>
          <a:xfrm>
            <a:off x="5268600" y="3691238"/>
            <a:ext cx="3418200" cy="75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i="1" sz="4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9" name="Google Shape;99;p20"/>
          <p:cNvSpPr txBox="1"/>
          <p:nvPr>
            <p:ph idx="3" type="subTitle"/>
          </p:nvPr>
        </p:nvSpPr>
        <p:spPr>
          <a:xfrm>
            <a:off x="5268600" y="4298566"/>
            <a:ext cx="3418200" cy="30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0" name="Google Shape;100;p20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-1375060">
            <a:off x="-2000797" y="1668352"/>
            <a:ext cx="6626044" cy="577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243050" y="456638"/>
            <a:ext cx="5443500" cy="103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 sz="74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" type="subTitle"/>
          </p:nvPr>
        </p:nvSpPr>
        <p:spPr>
          <a:xfrm>
            <a:off x="4641006" y="1310655"/>
            <a:ext cx="4045800" cy="12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/>
        </p:nvSpPr>
        <p:spPr>
          <a:xfrm>
            <a:off x="457200" y="3847013"/>
            <a:ext cx="57573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icons,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b="1" sz="1200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/>
          <p:nvPr>
            <p:ph idx="1" type="subTitle"/>
          </p:nvPr>
        </p:nvSpPr>
        <p:spPr>
          <a:xfrm flipH="1">
            <a:off x="457525" y="2733125"/>
            <a:ext cx="42156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Sponsor: Dr. Ajay Tripuraneni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section: Fall Capstone (29745)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Name: Arshia Thota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Date: 10/24/2025</a:t>
            </a:r>
            <a:endParaRPr/>
          </a:p>
        </p:txBody>
      </p:sp>
      <p:sp>
        <p:nvSpPr>
          <p:cNvPr id="112" name="Google Shape;112;p24"/>
          <p:cNvSpPr txBox="1"/>
          <p:nvPr>
            <p:ph type="ctrTitle"/>
          </p:nvPr>
        </p:nvSpPr>
        <p:spPr>
          <a:xfrm flipH="1" rot="130">
            <a:off x="457525" y="368058"/>
            <a:ext cx="7931100" cy="24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LIGHTNING TALK</a:t>
            </a:r>
            <a:r>
              <a:rPr lang="en"/>
              <a:t> 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100"/>
              <a:t>Building Patient Classification Models for Personalized Healthcare Plans at HelloAlfred.AI</a:t>
            </a:r>
            <a:endParaRPr i="1" sz="3100"/>
          </a:p>
        </p:txBody>
      </p:sp>
      <p:pic>
        <p:nvPicPr>
          <p:cNvPr id="113" name="Google Shape;113;p24" title="Screenshot 2025-10-09 at 12.00.57 PM.png"/>
          <p:cNvPicPr preferRelativeResize="0"/>
          <p:nvPr/>
        </p:nvPicPr>
        <p:blipFill rotWithShape="1">
          <a:blip r:embed="rId3">
            <a:alphaModFix/>
          </a:blip>
          <a:srcRect b="6797" l="0" r="3222" t="11888"/>
          <a:stretch/>
        </p:blipFill>
        <p:spPr>
          <a:xfrm>
            <a:off x="4913750" y="2849650"/>
            <a:ext cx="3035300" cy="165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/>
          <p:nvPr>
            <p:ph idx="8"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MOTIVATION FOR PROJECT</a:t>
            </a:r>
            <a:endParaRPr i="1"/>
          </a:p>
        </p:txBody>
      </p:sp>
      <p:sp>
        <p:nvSpPr>
          <p:cNvPr id="119" name="Google Shape;119;p25"/>
          <p:cNvSpPr txBox="1"/>
          <p:nvPr>
            <p:ph type="title"/>
          </p:nvPr>
        </p:nvSpPr>
        <p:spPr>
          <a:xfrm>
            <a:off x="2576538" y="1292813"/>
            <a:ext cx="677700" cy="4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20" name="Google Shape;120;p25"/>
          <p:cNvSpPr txBox="1"/>
          <p:nvPr>
            <p:ph idx="1" type="subTitle"/>
          </p:nvPr>
        </p:nvSpPr>
        <p:spPr>
          <a:xfrm>
            <a:off x="3214064" y="1288025"/>
            <a:ext cx="335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HelloAlfred.AI’s mission is to make healthcare more proactive and personalized through conversational AI.</a:t>
            </a:r>
            <a:endParaRPr sz="1400"/>
          </a:p>
        </p:txBody>
      </p:sp>
      <p:sp>
        <p:nvSpPr>
          <p:cNvPr id="121" name="Google Shape;121;p25"/>
          <p:cNvSpPr txBox="1"/>
          <p:nvPr>
            <p:ph idx="2" type="title"/>
          </p:nvPr>
        </p:nvSpPr>
        <p:spPr>
          <a:xfrm>
            <a:off x="2576538" y="2187738"/>
            <a:ext cx="677700" cy="4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22" name="Google Shape;122;p25"/>
          <p:cNvSpPr txBox="1"/>
          <p:nvPr>
            <p:ph idx="3" type="subTitle"/>
          </p:nvPr>
        </p:nvSpPr>
        <p:spPr>
          <a:xfrm>
            <a:off x="3214064" y="2152675"/>
            <a:ext cx="335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Many patients face challenges staying consistent with care plans and healthy behaviors.</a:t>
            </a:r>
            <a:endParaRPr sz="1400"/>
          </a:p>
        </p:txBody>
      </p:sp>
      <p:sp>
        <p:nvSpPr>
          <p:cNvPr id="123" name="Google Shape;123;p25"/>
          <p:cNvSpPr txBox="1"/>
          <p:nvPr>
            <p:ph idx="4" type="title"/>
          </p:nvPr>
        </p:nvSpPr>
        <p:spPr>
          <a:xfrm>
            <a:off x="2576538" y="3082675"/>
            <a:ext cx="677700" cy="4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24" name="Google Shape;124;p25"/>
          <p:cNvSpPr txBox="1"/>
          <p:nvPr>
            <p:ph idx="5" type="subTitle"/>
          </p:nvPr>
        </p:nvSpPr>
        <p:spPr>
          <a:xfrm>
            <a:off x="3214064" y="3077888"/>
            <a:ext cx="335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There’s a growing need for AI-driven tools that can understand both behavioral and clinical factors.</a:t>
            </a:r>
            <a:endParaRPr sz="1400"/>
          </a:p>
        </p:txBody>
      </p:sp>
      <p:sp>
        <p:nvSpPr>
          <p:cNvPr id="125" name="Google Shape;125;p25"/>
          <p:cNvSpPr txBox="1"/>
          <p:nvPr>
            <p:ph idx="6" type="title"/>
          </p:nvPr>
        </p:nvSpPr>
        <p:spPr>
          <a:xfrm>
            <a:off x="2576538" y="3937813"/>
            <a:ext cx="677700" cy="4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26" name="Google Shape;126;p25"/>
          <p:cNvSpPr txBox="1"/>
          <p:nvPr>
            <p:ph idx="7" type="subTitle"/>
          </p:nvPr>
        </p:nvSpPr>
        <p:spPr>
          <a:xfrm>
            <a:off x="3214064" y="4119625"/>
            <a:ext cx="335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My project addresses this by helping to develop ML models that classify patients to deliver tailored support and recommendations.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idx="1" type="subTitle"/>
          </p:nvPr>
        </p:nvSpPr>
        <p:spPr>
          <a:xfrm>
            <a:off x="2026950" y="2614675"/>
            <a:ext cx="50901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Expected/Potential Outcomes</a:t>
            </a:r>
            <a:endParaRPr/>
          </a:p>
        </p:txBody>
      </p:sp>
      <p:sp>
        <p:nvSpPr>
          <p:cNvPr id="132" name="Google Shape;132;p26"/>
          <p:cNvSpPr txBox="1"/>
          <p:nvPr>
            <p:ph idx="3" type="subTitle"/>
          </p:nvPr>
        </p:nvSpPr>
        <p:spPr>
          <a:xfrm>
            <a:off x="2026950" y="3040375"/>
            <a:ext cx="5090100" cy="8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Working prototype or conceptual model for patient segmentation using behavioral and health characteristics.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 framework that helps Alfred AI recommend more personalized patient plans.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Deeper understanding of how behavioral science can enhance AI-driven healthcare tools.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3" name="Google Shape;133;p26"/>
          <p:cNvSpPr txBox="1"/>
          <p:nvPr>
            <p:ph idx="4" type="subTitle"/>
          </p:nvPr>
        </p:nvSpPr>
        <p:spPr>
          <a:xfrm>
            <a:off x="2026950" y="857025"/>
            <a:ext cx="5090100" cy="8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Conducted research on nudge classifiers and behavioral frameworks to group patients effectively.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Collaborated with team members working on behavioral and clinical data integration.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Began reading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Inside the Nudge Unit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by David Halpern to apply real-world behavioral insights into patient classification.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Currently developing a framework that connects behavioral and health data for personalized care.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4" name="Google Shape;134;p26"/>
          <p:cNvSpPr txBox="1"/>
          <p:nvPr>
            <p:ph type="title"/>
          </p:nvPr>
        </p:nvSpPr>
        <p:spPr>
          <a:xfrm>
            <a:off x="457200" y="212325"/>
            <a:ext cx="82296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300"/>
              <a:t>Current State of Project</a:t>
            </a:r>
            <a:endParaRPr i="1" sz="2300">
              <a:latin typeface="Syne ExtraBold"/>
              <a:ea typeface="Syne ExtraBold"/>
              <a:cs typeface="Syne ExtraBold"/>
              <a:sym typeface="Syne ExtraBold"/>
            </a:endParaRPr>
          </a:p>
        </p:txBody>
      </p:sp>
      <p:pic>
        <p:nvPicPr>
          <p:cNvPr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7675" y="547750"/>
            <a:ext cx="1722150" cy="1908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2775" y="2614675"/>
            <a:ext cx="1439999" cy="225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mal Gradient by Slidesgo">
  <a:themeElements>
    <a:clrScheme name="Simple Light">
      <a:dk1>
        <a:srgbClr val="000000"/>
      </a:dk1>
      <a:lt1>
        <a:srgbClr val="FFFBF8"/>
      </a:lt1>
      <a:dk2>
        <a:srgbClr val="000000"/>
      </a:dk2>
      <a:lt2>
        <a:srgbClr val="000000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