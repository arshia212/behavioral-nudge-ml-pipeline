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60"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997"/>
    <p:restoredTop sz="79365"/>
  </p:normalViewPr>
  <p:slideViewPr>
    <p:cSldViewPr snapToGrid="0" snapToObjects="1">
      <p:cViewPr varScale="1">
        <p:scale>
          <a:sx n="94" d="100"/>
          <a:sy n="94" d="100"/>
        </p:scale>
        <p:origin x="2184" y="19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94777742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Think of classifiers as the tags we attach to an intervention. Frameworks are the operating system we use to design, test, and govern them. We will classify each nudge by mechanism and design family, and we will use EAST plus a light experimentation and ethics process to deliver and measure it.</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MINDSPACE catalogs how nudges exert influence. We will deep-dive the ones we will actually build first: Affect, Commitments, Ego, Norms, Messenger, Defaults, Salience. We will treat Priming cautiously due to mixed replicability.</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Emotional messages increase attention and intention if we provide a doable next step—what exactly to do now—and make it easy. For health contexts we keep emotion constructive: pride, relief, self-care. We will A/B an 'efficacy line + one-tap scheduling' versus a generic reminder for confirmatory tests and refills.</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Commitments convert intentions into action by pre-deciding the when, where, and how. We will offer a quick planner: select a cue, confirm timing, preview the notification. We will test whether adding a simple commitment increases on-time doses, and monitor for burden.</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Ego works when behaviors feel consistent with who the person is or wants to be. A brief self-affirmation can reduce defensiveness and increase openness to guidance. We keep tone supportive and optional, never moralizing.</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Social proof works but can boomerang if someone is already doing well—add approval cues to keep them from regressing. For credibility, sign clinical tasks from a clinician or clinic brand; use the Alfred voice for general education. We will test message source labels head-to-head.</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Defaults reduce effort and often produce the largest, most reliable behavior changes. We will default into non-risky conveniences such as auto-refills and draft appointments, with clear disclosure and easy opt-out.</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win more by making the right action obvious than by relying on subtle primes. Prioritize clarity, placement, and timing; treat priming as optional and low-priority.</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EAST keeps us honest on execution: if it is not easy and timely, it will not work. We will adopt JITAI-style timing rules for windows of receptivity, and always iterate via small tests.</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taxonomy stops us from over-relying on messages. For each task we aim to pair a structure change and an assistance tool, with concise information framing on top.</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Because effects vary widely, we rely on quick tests and good instrumentation rather than assumptions. We will track primary outcomes and guardrails, and report results by segment to find high-ROI combinations.</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We will tag each nudge for transparency and cognitive mode, disclose why a patient received it, and keep opt-out easy. We will run basic fairness checks and avoid dark patterns. If we explore incentives (e.g., deposits), keep participation strictly opt-in with extra review.</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Every nudge in our catalog should follow this schema so product, data, and compliance stay aligned. Example: 'Pre-booked 10-minute confirmatory slot for tomorrow 8:40 am—tap to confirm or reschedule. You are seeing this because of your recent reading; you can opt out of auto-booking anytime.'</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This list highlights the backbone sources. If stakeholders want full citations I can provide a formatted bibliography or a reading pack.</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19314" y="596019"/>
            <a:ext cx="7510506" cy="3213982"/>
          </a:xfrm>
        </p:spPr>
        <p:txBody>
          <a:bodyPr anchor="b">
            <a:normAutofit/>
          </a:bodyPr>
          <a:lstStyle>
            <a:lvl1pPr algn="ctr">
              <a:defRPr sz="4000">
                <a:effectLst>
                  <a:glow rad="38100">
                    <a:schemeClr val="bg1">
                      <a:lumMod val="65000"/>
                      <a:lumOff val="35000"/>
                      <a:alpha val="50000"/>
                    </a:schemeClr>
                  </a:glow>
                  <a:outerShdw blurRad="28575" dist="31750" dir="13200000" algn="tl" rotWithShape="0">
                    <a:srgbClr val="000000">
                      <a:alpha val="25000"/>
                    </a:srgbClr>
                  </a:outerShdw>
                </a:effectLst>
              </a:defRPr>
            </a:lvl1pPr>
          </a:lstStyle>
          <a:p>
            <a:r>
              <a:rPr lang="en-US"/>
              <a:t>Click to edit Master title style</a:t>
            </a:r>
            <a:endParaRPr lang="en-US" dirty="0"/>
          </a:p>
        </p:txBody>
      </p:sp>
      <p:sp>
        <p:nvSpPr>
          <p:cNvPr id="3" name="Subtitle 2"/>
          <p:cNvSpPr>
            <a:spLocks noGrp="1"/>
          </p:cNvSpPr>
          <p:nvPr>
            <p:ph type="subTitle" idx="1"/>
          </p:nvPr>
        </p:nvSpPr>
        <p:spPr>
          <a:xfrm>
            <a:off x="819314" y="3886200"/>
            <a:ext cx="7510506" cy="2219108"/>
          </a:xfrm>
        </p:spPr>
        <p:txBody>
          <a:bodyPr anchor="t">
            <a:normAutofit/>
          </a:bodyPr>
          <a:lstStyle>
            <a:lvl1pPr marL="0" indent="0" algn="ctr">
              <a:buNone/>
              <a:defRPr sz="1800">
                <a:gradFill flip="none" rotWithShape="1">
                  <a:gsLst>
                    <a:gs pos="0">
                      <a:schemeClr val="tx1"/>
                    </a:gs>
                    <a:gs pos="100000">
                      <a:schemeClr val="tx1">
                        <a:lumMod val="75000"/>
                      </a:schemeClr>
                    </a:gs>
                  </a:gsLst>
                  <a:lin ang="0" scaled="1"/>
                  <a:tileRect/>
                </a:gra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9/28/25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9430379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9/28/25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5042482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19314" y="3270698"/>
            <a:ext cx="7510506" cy="1823305"/>
          </a:xfrm>
        </p:spPr>
        <p:txBody>
          <a:bodyPr anchor="b">
            <a:normAutofit/>
          </a:bodyPr>
          <a:lstStyle>
            <a:lvl1pPr algn="r">
              <a:defRPr sz="2800" b="0" cap="all"/>
            </a:lvl1pPr>
          </a:lstStyle>
          <a:p>
            <a:r>
              <a:rPr lang="en-US"/>
              <a:t>Click to edit Master title style</a:t>
            </a:r>
            <a:endParaRPr lang="en-US" dirty="0"/>
          </a:p>
        </p:txBody>
      </p:sp>
      <p:sp>
        <p:nvSpPr>
          <p:cNvPr id="3" name="Text Placeholder 2"/>
          <p:cNvSpPr>
            <a:spLocks noGrp="1"/>
          </p:cNvSpPr>
          <p:nvPr>
            <p:ph type="body" idx="1"/>
          </p:nvPr>
        </p:nvSpPr>
        <p:spPr>
          <a:xfrm>
            <a:off x="819314" y="5103810"/>
            <a:ext cx="7510506" cy="998250"/>
          </a:xfrm>
        </p:spPr>
        <p:txBody>
          <a:bodyPr anchor="t">
            <a:normAutofit/>
          </a:bodyPr>
          <a:lstStyle>
            <a:lvl1pPr marL="0" indent="0" algn="r">
              <a:buNone/>
              <a:defRPr sz="18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0112363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18347" y="2060898"/>
            <a:ext cx="3685073" cy="4031331"/>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4640580" y="2060898"/>
            <a:ext cx="3689239" cy="4031330"/>
          </a:xfrm>
        </p:spPr>
        <p:txBody>
          <a:bodyPr>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5BCAD085-E8A6-8845-BD4E-CB4CCA059FC4}" type="datetimeFigureOut">
              <a:rPr lang="en-US" smtClean="0"/>
              <a:t>9/28/25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7856752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US" dirty="0"/>
          </a:p>
        </p:txBody>
      </p:sp>
      <p:sp>
        <p:nvSpPr>
          <p:cNvPr id="3" name="Text Placeholder 2"/>
          <p:cNvSpPr>
            <a:spLocks noGrp="1"/>
          </p:cNvSpPr>
          <p:nvPr>
            <p:ph type="body" idx="1"/>
          </p:nvPr>
        </p:nvSpPr>
        <p:spPr>
          <a:xfrm>
            <a:off x="1106306" y="2060898"/>
            <a:ext cx="3397113" cy="733596"/>
          </a:xfrm>
        </p:spPr>
        <p:txBody>
          <a:bodyPr anchor="b">
            <a:noAutofit/>
          </a:bodyPr>
          <a:lstStyle>
            <a:lvl1pPr marL="0" inden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18347" y="2786027"/>
            <a:ext cx="3685073" cy="3316033"/>
          </a:xfrm>
        </p:spPr>
        <p:txBody>
          <a:bodyPr anchor="t">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4910150" y="2060898"/>
            <a:ext cx="3419670" cy="725129"/>
          </a:xfrm>
        </p:spPr>
        <p:txBody>
          <a:bodyPr anchor="b">
            <a:noAutofit/>
          </a:bodyPr>
          <a:lstStyle>
            <a:lvl1pPr marL="0" indent="0">
              <a:buNone/>
              <a:defRPr sz="22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29165" y="2786027"/>
            <a:ext cx="3701520" cy="3316033"/>
          </a:xfrm>
        </p:spPr>
        <p:txBody>
          <a:bodyPr anchor="t">
            <a:normAutofit/>
          </a:bodyPr>
          <a:lstStyle>
            <a:lvl1pPr>
              <a:defRPr sz="1600"/>
            </a:lvl1pPr>
            <a:lvl2pPr>
              <a:defRPr sz="1400"/>
            </a:lvl2pPr>
            <a:lvl3pPr>
              <a:defRPr sz="1200"/>
            </a:lvl3pPr>
            <a:lvl4pPr>
              <a:defRPr sz="1100"/>
            </a:lvl4pPr>
            <a:lvl5pPr>
              <a:defRPr sz="1100"/>
            </a:lvl5pPr>
            <a:lvl6pPr>
              <a:defRPr sz="1100"/>
            </a:lvl6pPr>
            <a:lvl7pPr>
              <a:defRPr sz="1100"/>
            </a:lvl7pPr>
            <a:lvl8pPr>
              <a:defRPr sz="1100"/>
            </a:lvl8pPr>
            <a:lvl9pPr>
              <a:defRPr sz="1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5BCAD085-E8A6-8845-BD4E-CB4CCA059FC4}" type="datetimeFigureOut">
              <a:rPr lang="en-US" smtClean="0"/>
              <a:t>9/28/25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17588225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lvl1pPr>
              <a:defRPr sz="2600"/>
            </a:lvl1p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5BCAD085-E8A6-8845-BD4E-CB4CCA059FC4}" type="datetimeFigureOut">
              <a:rPr lang="en-US" smtClean="0"/>
              <a:t>9/28/25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15990344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9/28/25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34478285"/>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8347" y="1754928"/>
            <a:ext cx="2729523" cy="1371600"/>
          </a:xfrm>
        </p:spPr>
        <p:txBody>
          <a:bodyPr anchor="b">
            <a:normAutofit/>
          </a:bodyPr>
          <a:lstStyle>
            <a:lvl1pPr algn="l">
              <a:defRPr sz="2200" b="0"/>
            </a:lvl1pPr>
          </a:lstStyle>
          <a:p>
            <a:r>
              <a:rPr lang="en-US"/>
              <a:t>Click to edit Master title style</a:t>
            </a:r>
            <a:endParaRPr lang="en-US" dirty="0"/>
          </a:p>
        </p:txBody>
      </p:sp>
      <p:sp>
        <p:nvSpPr>
          <p:cNvPr id="3" name="Content Placeholder 2"/>
          <p:cNvSpPr>
            <a:spLocks noGrp="1"/>
          </p:cNvSpPr>
          <p:nvPr>
            <p:ph idx="1"/>
          </p:nvPr>
        </p:nvSpPr>
        <p:spPr>
          <a:xfrm>
            <a:off x="3828856" y="596018"/>
            <a:ext cx="4500964" cy="5506041"/>
          </a:xfrm>
        </p:spPr>
        <p:txBody>
          <a:bodyPr anchor="ctr">
            <a:normAutofit/>
          </a:bodyPr>
          <a:lstStyle>
            <a:lvl1pPr>
              <a:defRPr sz="1800"/>
            </a:lvl1pPr>
            <a:lvl2pPr>
              <a:defRPr sz="1600"/>
            </a:lvl2pPr>
            <a:lvl3pPr>
              <a:defRPr sz="1400"/>
            </a:lvl3pPr>
            <a:lvl4pPr>
              <a:defRPr sz="1200"/>
            </a:lvl4pPr>
            <a:lvl5pPr>
              <a:defRPr sz="1100"/>
            </a:lvl5pPr>
            <a:lvl6pPr>
              <a:defRPr sz="1100"/>
            </a:lvl6pPr>
            <a:lvl7pPr>
              <a:defRPr sz="1100"/>
            </a:lvl7pPr>
            <a:lvl8pPr>
              <a:defRPr sz="1100"/>
            </a:lvl8pPr>
            <a:lvl9pPr>
              <a:defRPr sz="11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18347" y="3126528"/>
            <a:ext cx="2729523" cy="1828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9/28/25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3630022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8347" y="1898269"/>
            <a:ext cx="4423803" cy="1371600"/>
          </a:xfrm>
        </p:spPr>
        <p:txBody>
          <a:bodyPr anchor="b">
            <a:normAutofit/>
          </a:bodyPr>
          <a:lstStyle>
            <a:lvl1pPr algn="l">
              <a:defRPr sz="2400" b="0"/>
            </a:lvl1pPr>
          </a:lstStyle>
          <a:p>
            <a:r>
              <a:rPr lang="en-US"/>
              <a:t>Click to edit Master title style</a:t>
            </a:r>
            <a:endParaRPr lang="en-US" dirty="0"/>
          </a:p>
        </p:txBody>
      </p:sp>
      <p:sp>
        <p:nvSpPr>
          <p:cNvPr id="14" name="Picture Placeholder 2"/>
          <p:cNvSpPr>
            <a:spLocks noGrp="1" noChangeAspect="1"/>
          </p:cNvSpPr>
          <p:nvPr>
            <p:ph type="pic" idx="1"/>
          </p:nvPr>
        </p:nvSpPr>
        <p:spPr>
          <a:xfrm>
            <a:off x="5515442" y="-18288"/>
            <a:ext cx="2500062" cy="6903720"/>
          </a:xfrm>
          <a:ln w="38100">
            <a:gradFill flip="none" rotWithShape="1">
              <a:gsLst>
                <a:gs pos="0">
                  <a:schemeClr val="bg2"/>
                </a:gs>
                <a:gs pos="100000">
                  <a:schemeClr val="bg2">
                    <a:lumMod val="75000"/>
                  </a:schemeClr>
                </a:gs>
              </a:gsLst>
              <a:lin ang="5400000" scaled="0"/>
              <a:tileRect/>
            </a:gradFill>
          </a:ln>
          <a:effectLst>
            <a:innerShdw blurRad="57150" dist="38100" dir="1080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817318" y="3269869"/>
            <a:ext cx="4423803" cy="1828800"/>
          </a:xfrm>
        </p:spPr>
        <p:txBody>
          <a:bodyPr>
            <a:normAutofit/>
          </a:bodyPr>
          <a:lstStyle>
            <a:lvl1pPr marL="0" indent="0">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a:xfrm>
            <a:off x="4523649" y="6181344"/>
            <a:ext cx="718502" cy="365125"/>
          </a:xfrm>
        </p:spPr>
        <p:txBody>
          <a:bodyPr/>
          <a:lstStyle/>
          <a:p>
            <a:fld id="{5BCAD085-E8A6-8845-BD4E-CB4CCA059FC4}" type="datetimeFigureOut">
              <a:rPr lang="en-US" smtClean="0"/>
              <a:t>9/28/25</a:t>
            </a:fld>
            <a:endParaRPr lang="en-US"/>
          </a:p>
        </p:txBody>
      </p:sp>
      <p:sp>
        <p:nvSpPr>
          <p:cNvPr id="6" name="Footer Placeholder 5"/>
          <p:cNvSpPr>
            <a:spLocks noGrp="1"/>
          </p:cNvSpPr>
          <p:nvPr>
            <p:ph type="ftr" sz="quarter" idx="11"/>
          </p:nvPr>
        </p:nvSpPr>
        <p:spPr>
          <a:xfrm>
            <a:off x="818348" y="6181344"/>
            <a:ext cx="3705300" cy="365125"/>
          </a:xfrm>
        </p:spPr>
        <p:txBody>
          <a:bodyPr/>
          <a:lstStyle/>
          <a:p>
            <a:endParaRPr lang="en-US"/>
          </a:p>
        </p:txBody>
      </p:sp>
      <p:sp>
        <p:nvSpPr>
          <p:cNvPr id="7" name="Slide Number Placeholder 6"/>
          <p:cNvSpPr>
            <a:spLocks noGrp="1"/>
          </p:cNvSpPr>
          <p:nvPr>
            <p:ph type="sldNum" sz="quarter" idx="12"/>
          </p:nvPr>
        </p:nvSpPr>
        <p:spPr>
          <a:xfrm>
            <a:off x="8024262" y="6181344"/>
            <a:ext cx="305186" cy="329250"/>
          </a:xfrm>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7455066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677" y="4377485"/>
            <a:ext cx="7413007" cy="907505"/>
          </a:xfrm>
        </p:spPr>
        <p:txBody>
          <a:bodyPr anchor="b">
            <a:normAutofit/>
          </a:bodyPr>
          <a:lstStyle>
            <a:lvl1pPr algn="l">
              <a:defRPr sz="2000" b="0"/>
            </a:lvl1pPr>
          </a:lstStyle>
          <a:p>
            <a:r>
              <a:rPr lang="en-US"/>
              <a:t>Click to edit Master title style</a:t>
            </a:r>
            <a:endParaRPr lang="en-US" dirty="0"/>
          </a:p>
        </p:txBody>
      </p:sp>
      <p:sp>
        <p:nvSpPr>
          <p:cNvPr id="3" name="Picture Placeholder 2"/>
          <p:cNvSpPr>
            <a:spLocks noGrp="1" noChangeAspect="1"/>
          </p:cNvSpPr>
          <p:nvPr>
            <p:ph type="pic" idx="1"/>
          </p:nvPr>
        </p:nvSpPr>
        <p:spPr>
          <a:xfrm>
            <a:off x="917678" y="996188"/>
            <a:ext cx="7301427" cy="2981126"/>
          </a:xfrm>
          <a:prstGeom prst="roundRect">
            <a:avLst>
              <a:gd name="adj" fmla="val 4380"/>
            </a:avLst>
          </a:prstGeom>
          <a:ln w="38100">
            <a:gradFill flip="none" rotWithShape="1">
              <a:gsLst>
                <a:gs pos="0">
                  <a:schemeClr val="bg2"/>
                </a:gs>
                <a:gs pos="100000">
                  <a:schemeClr val="bg2">
                    <a:lumMod val="75000"/>
                  </a:schemeClr>
                </a:gs>
              </a:gsLst>
              <a:lin ang="5400000" scaled="0"/>
              <a:tileRect/>
            </a:gradFill>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4" name="Text Placeholder 3"/>
          <p:cNvSpPr>
            <a:spLocks noGrp="1"/>
          </p:cNvSpPr>
          <p:nvPr>
            <p:ph type="body" sz="half" idx="2"/>
          </p:nvPr>
        </p:nvSpPr>
        <p:spPr>
          <a:xfrm>
            <a:off x="917677" y="5284990"/>
            <a:ext cx="7413007" cy="817070"/>
          </a:xfrm>
        </p:spPr>
        <p:txBody>
          <a:bodyPr>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9/28/25</a:t>
            </a:fld>
            <a:endParaRPr lang="en-US"/>
          </a:p>
        </p:txBody>
      </p:sp>
      <p:sp>
        <p:nvSpPr>
          <p:cNvPr id="6" name="Footer Placeholder 5"/>
          <p:cNvSpPr>
            <a:spLocks noGrp="1"/>
          </p:cNvSpPr>
          <p:nvPr>
            <p:ph type="ftr" sz="quarter" idx="11"/>
          </p:nvPr>
        </p:nvSpPr>
        <p:spPr>
          <a:xfrm>
            <a:off x="917678" y="6181344"/>
            <a:ext cx="5337278" cy="365125"/>
          </a:xfrm>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56171576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818347" y="596018"/>
            <a:ext cx="7511474" cy="3137782"/>
          </a:xfrm>
        </p:spPr>
        <p:txBody>
          <a:bodyPr anchor="ctr">
            <a:normAutofit/>
          </a:bodyPr>
          <a:lstStyle>
            <a:lvl1pPr algn="l">
              <a:defRPr sz="2800" b="0" cap="all"/>
            </a:lvl1pPr>
          </a:lstStyle>
          <a:p>
            <a:r>
              <a:rPr lang="en-US"/>
              <a:t>Click to edit Master title style</a:t>
            </a:r>
            <a:endParaRPr lang="en-US" dirty="0"/>
          </a:p>
        </p:txBody>
      </p:sp>
      <p:sp>
        <p:nvSpPr>
          <p:cNvPr id="3" name="Text Placeholder 2"/>
          <p:cNvSpPr>
            <a:spLocks noGrp="1"/>
          </p:cNvSpPr>
          <p:nvPr>
            <p:ph type="body" idx="1"/>
          </p:nvPr>
        </p:nvSpPr>
        <p:spPr>
          <a:xfrm>
            <a:off x="818347" y="4343400"/>
            <a:ext cx="7511474" cy="1758660"/>
          </a:xfrm>
        </p:spPr>
        <p:txBody>
          <a:bodyPr anchor="ctr">
            <a:normAutofit/>
          </a:bodyPr>
          <a:lstStyle>
            <a:lvl1pPr marL="0" indent="0" algn="l">
              <a:buNone/>
              <a:defRPr sz="18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8295221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14" name="TextBox 13"/>
          <p:cNvSpPr txBox="1"/>
          <p:nvPr/>
        </p:nvSpPr>
        <p:spPr>
          <a:xfrm>
            <a:off x="583818" y="860276"/>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5" name="TextBox 14"/>
          <p:cNvSpPr txBox="1"/>
          <p:nvPr/>
        </p:nvSpPr>
        <p:spPr>
          <a:xfrm>
            <a:off x="7888822" y="2985923"/>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084942" y="596018"/>
            <a:ext cx="6974115" cy="3044079"/>
          </a:xfrm>
        </p:spPr>
        <p:txBody>
          <a:bodyPr anchor="ctr">
            <a:normAutofit/>
          </a:bodyPr>
          <a:lstStyle>
            <a:lvl1pPr algn="l">
              <a:defRPr sz="2800" b="0" cap="all">
                <a:gradFill flip="none" rotWithShape="1">
                  <a:gsLst>
                    <a:gs pos="0">
                      <a:schemeClr val="tx1"/>
                    </a:gs>
                    <a:gs pos="100000">
                      <a:schemeClr val="tx1">
                        <a:lumMod val="75000"/>
                      </a:schemeClr>
                    </a:gs>
                  </a:gsLst>
                  <a:lin ang="5400000" scaled="0"/>
                  <a:tileRect/>
                </a:gra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1256436" y="3650606"/>
            <a:ext cx="6631128" cy="381000"/>
          </a:xfrm>
        </p:spPr>
        <p:txBody>
          <a:bodyPr anchor="ctr">
            <a:normAutofit/>
          </a:bodyPr>
          <a:lstStyle>
            <a:lvl1pPr marL="0" indent="0">
              <a:buFontTx/>
              <a:buNone/>
              <a:defRPr sz="14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en-US"/>
              <a:t>Click to edit Master text styles</a:t>
            </a:r>
          </a:p>
        </p:txBody>
      </p:sp>
      <p:sp>
        <p:nvSpPr>
          <p:cNvPr id="3" name="Text Placeholder 2"/>
          <p:cNvSpPr>
            <a:spLocks noGrp="1"/>
          </p:cNvSpPr>
          <p:nvPr>
            <p:ph type="body" idx="1"/>
          </p:nvPr>
        </p:nvSpPr>
        <p:spPr>
          <a:xfrm>
            <a:off x="818347" y="4641206"/>
            <a:ext cx="7511473" cy="1447800"/>
          </a:xfrm>
        </p:spPr>
        <p:txBody>
          <a:bodyPr anchor="ctr">
            <a:normAutofit/>
          </a:bodyPr>
          <a:lstStyle>
            <a:lvl1pPr marL="0" indent="0" algn="l">
              <a:buNone/>
              <a:defRPr sz="1800">
                <a:gradFill flip="none" rotWithShape="1">
                  <a:gsLst>
                    <a:gs pos="0">
                      <a:schemeClr val="tx1"/>
                    </a:gs>
                    <a:gs pos="100000">
                      <a:schemeClr val="tx1">
                        <a:lumMod val="75000"/>
                      </a:schemeClr>
                    </a:gs>
                  </a:gsLst>
                  <a:lin ang="0" scaled="1"/>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423400145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818347" y="3603566"/>
            <a:ext cx="7512338" cy="1468800"/>
          </a:xfrm>
        </p:spPr>
        <p:txBody>
          <a:bodyPr anchor="b">
            <a:normAutofit/>
          </a:bodyPr>
          <a:lstStyle>
            <a:lvl1pPr algn="l">
              <a:defRPr sz="2800" b="0" cap="all"/>
            </a:lvl1pPr>
          </a:lstStyle>
          <a:p>
            <a:r>
              <a:rPr lang="en-US"/>
              <a:t>Click to edit Master title style</a:t>
            </a:r>
            <a:endParaRPr lang="en-US" dirty="0"/>
          </a:p>
        </p:txBody>
      </p:sp>
      <p:sp>
        <p:nvSpPr>
          <p:cNvPr id="3" name="Text Placeholder 2"/>
          <p:cNvSpPr>
            <a:spLocks noGrp="1"/>
          </p:cNvSpPr>
          <p:nvPr>
            <p:ph type="body" idx="1"/>
          </p:nvPr>
        </p:nvSpPr>
        <p:spPr>
          <a:xfrm>
            <a:off x="821015" y="5072366"/>
            <a:ext cx="7512339" cy="1029694"/>
          </a:xfrm>
        </p:spPr>
        <p:txBody>
          <a:bodyPr anchor="t">
            <a:normAutofit/>
          </a:bodyPr>
          <a:lstStyle>
            <a:lvl1pPr marL="0" indent="0" algn="l">
              <a:buNone/>
              <a:defRPr sz="1800">
                <a:gradFill flip="none" rotWithShape="1">
                  <a:gsLst>
                    <a:gs pos="0">
                      <a:schemeClr val="tx1"/>
                    </a:gs>
                    <a:gs pos="100000">
                      <a:schemeClr val="tx1">
                        <a:lumMod val="75000"/>
                      </a:schemeClr>
                    </a:gs>
                  </a:gsLst>
                  <a:lin ang="5400000" scaled="0"/>
                  <a:tileRect/>
                </a:gra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9126993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Quote Name Card">
    <p:spTree>
      <p:nvGrpSpPr>
        <p:cNvPr id="1" name=""/>
        <p:cNvGrpSpPr/>
        <p:nvPr/>
      </p:nvGrpSpPr>
      <p:grpSpPr>
        <a:xfrm>
          <a:off x="0" y="0"/>
          <a:ext cx="0" cy="0"/>
          <a:chOff x="0" y="0"/>
          <a:chExt cx="0" cy="0"/>
        </a:xfrm>
      </p:grpSpPr>
      <p:sp>
        <p:nvSpPr>
          <p:cNvPr id="13" name="TextBox 12"/>
          <p:cNvSpPr txBox="1"/>
          <p:nvPr/>
        </p:nvSpPr>
        <p:spPr>
          <a:xfrm>
            <a:off x="583818" y="753851"/>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accent1"/>
                </a:solidFill>
              </a:rPr>
              <a:t>“</a:t>
            </a:r>
          </a:p>
        </p:txBody>
      </p:sp>
      <p:sp>
        <p:nvSpPr>
          <p:cNvPr id="16" name="TextBox 15"/>
          <p:cNvSpPr txBox="1"/>
          <p:nvPr/>
        </p:nvSpPr>
        <p:spPr>
          <a:xfrm>
            <a:off x="7887556" y="2879498"/>
            <a:ext cx="457319"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accent1"/>
                </a:solidFill>
              </a:rPr>
              <a:t>”</a:t>
            </a:r>
          </a:p>
        </p:txBody>
      </p:sp>
      <p:sp>
        <p:nvSpPr>
          <p:cNvPr id="2" name="Title 1"/>
          <p:cNvSpPr>
            <a:spLocks noGrp="1"/>
          </p:cNvSpPr>
          <p:nvPr>
            <p:ph type="title"/>
          </p:nvPr>
        </p:nvSpPr>
        <p:spPr>
          <a:xfrm>
            <a:off x="1084942" y="596018"/>
            <a:ext cx="6974115" cy="2844369"/>
          </a:xfrm>
        </p:spPr>
        <p:txBody>
          <a:bodyPr anchor="ctr">
            <a:normAutofit/>
          </a:bodyPr>
          <a:lstStyle>
            <a:lvl1pPr algn="l">
              <a:defRPr sz="2800" b="0" cap="all">
                <a:gradFill flip="none" rotWithShape="1">
                  <a:gsLst>
                    <a:gs pos="0">
                      <a:schemeClr val="tx1"/>
                    </a:gs>
                    <a:gs pos="100000">
                      <a:schemeClr val="tx1">
                        <a:lumMod val="75000"/>
                      </a:schemeClr>
                    </a:gs>
                  </a:gsLst>
                  <a:lin ang="5400000" scaled="0"/>
                  <a:tileRect/>
                </a:gradFill>
              </a:defRPr>
            </a:lvl1pPr>
          </a:lstStyle>
          <a:p>
            <a:r>
              <a:rPr lang="en-US"/>
              <a:t>Click to edit Master title style</a:t>
            </a:r>
            <a:endParaRPr lang="en-US" dirty="0"/>
          </a:p>
        </p:txBody>
      </p:sp>
      <p:sp>
        <p:nvSpPr>
          <p:cNvPr id="10" name="Text Placeholder 9"/>
          <p:cNvSpPr>
            <a:spLocks noGrp="1"/>
          </p:cNvSpPr>
          <p:nvPr>
            <p:ph type="body" sz="quarter" idx="13"/>
          </p:nvPr>
        </p:nvSpPr>
        <p:spPr>
          <a:xfrm>
            <a:off x="818347" y="3886200"/>
            <a:ext cx="7512338" cy="1053662"/>
          </a:xfrm>
        </p:spPr>
        <p:txBody>
          <a:bodyPr vert="horz" lIns="91440" tIns="45720" rIns="91440" bIns="45720" rtlCol="0" anchor="b">
            <a:normAutofit/>
          </a:bodyPr>
          <a:lstStyle>
            <a:lvl1pPr>
              <a:buNone/>
              <a:defRPr lang="en-US" sz="2000" b="0" cap="all" dirty="0">
                <a:ln w="3175" cmpd="sng">
                  <a:noFill/>
                </a:ln>
                <a:gradFill flip="none" rotWithShape="1">
                  <a:gsLst>
                    <a:gs pos="0">
                      <a:schemeClr val="tx1"/>
                    </a:gs>
                    <a:gs pos="100000">
                      <a:schemeClr val="tx1">
                        <a:lumMod val="75000"/>
                      </a:schemeClr>
                    </a:gs>
                  </a:gsLst>
                  <a:lin ang="0" scaled="1"/>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818347" y="4939862"/>
            <a:ext cx="7512338" cy="1162198"/>
          </a:xfrm>
        </p:spPr>
        <p:txBody>
          <a:bodyPr anchor="t">
            <a:normAutofit/>
          </a:bodyPr>
          <a:lstStyle>
            <a:lvl1pPr marL="0" indent="0" algn="l">
              <a:buNone/>
              <a:defRPr sz="1600">
                <a:gradFill flip="none" rotWithShape="1">
                  <a:gsLst>
                    <a:gs pos="0">
                      <a:schemeClr val="tx1"/>
                    </a:gs>
                    <a:gs pos="100000">
                      <a:schemeClr val="tx1">
                        <a:lumMod val="75000"/>
                      </a:schemeClr>
                    </a:gs>
                  </a:gsLst>
                  <a:lin ang="5400000" scaled="0"/>
                  <a:tileRect/>
                </a:gra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099730410"/>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True or False">
    <p:spTree>
      <p:nvGrpSpPr>
        <p:cNvPr id="1" name=""/>
        <p:cNvGrpSpPr/>
        <p:nvPr/>
      </p:nvGrpSpPr>
      <p:grpSpPr>
        <a:xfrm>
          <a:off x="0" y="0"/>
          <a:ext cx="0" cy="0"/>
          <a:chOff x="0" y="0"/>
          <a:chExt cx="0" cy="0"/>
        </a:xfrm>
      </p:grpSpPr>
      <p:sp>
        <p:nvSpPr>
          <p:cNvPr id="2" name="Title 1"/>
          <p:cNvSpPr>
            <a:spLocks noGrp="1"/>
          </p:cNvSpPr>
          <p:nvPr>
            <p:ph type="title"/>
          </p:nvPr>
        </p:nvSpPr>
        <p:spPr>
          <a:xfrm>
            <a:off x="818346" y="596018"/>
            <a:ext cx="7511473" cy="2756783"/>
          </a:xfrm>
        </p:spPr>
        <p:txBody>
          <a:bodyPr vert="horz" lIns="91440" tIns="45720" rIns="91440" bIns="45720" rtlCol="0" anchor="ctr">
            <a:normAutofit/>
          </a:bodyPr>
          <a:lstStyle>
            <a:lvl1pPr>
              <a:defRPr lang="en-US" sz="2800" b="0" dirty="0"/>
            </a:lvl1pPr>
          </a:lstStyle>
          <a:p>
            <a:pPr marL="0" lvl="0"/>
            <a:r>
              <a:rPr lang="en-US"/>
              <a:t>Click to edit Master title style</a:t>
            </a:r>
            <a:endParaRPr lang="en-US" dirty="0"/>
          </a:p>
        </p:txBody>
      </p:sp>
      <p:sp>
        <p:nvSpPr>
          <p:cNvPr id="10" name="Text Placeholder 9"/>
          <p:cNvSpPr>
            <a:spLocks noGrp="1"/>
          </p:cNvSpPr>
          <p:nvPr>
            <p:ph type="body" sz="quarter" idx="13"/>
          </p:nvPr>
        </p:nvSpPr>
        <p:spPr>
          <a:xfrm>
            <a:off x="818346" y="3682941"/>
            <a:ext cx="7511473" cy="1049283"/>
          </a:xfrm>
        </p:spPr>
        <p:txBody>
          <a:bodyPr vert="horz" lIns="91440" tIns="45720" rIns="91440" bIns="45720" rtlCol="0" anchor="b">
            <a:normAutofit/>
          </a:bodyPr>
          <a:lstStyle>
            <a:lvl1pPr>
              <a:buNone/>
              <a:defRPr lang="en-US" sz="2400" b="0" cap="all" dirty="0">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defRPr>
            </a:lvl1pPr>
          </a:lstStyle>
          <a:p>
            <a:pPr marL="0" lvl="0">
              <a:spcBef>
                <a:spcPct val="0"/>
              </a:spcBef>
              <a:buNone/>
            </a:pPr>
            <a:r>
              <a:rPr lang="en-US"/>
              <a:t>Click to edit Master text styles</a:t>
            </a:r>
          </a:p>
        </p:txBody>
      </p:sp>
      <p:sp>
        <p:nvSpPr>
          <p:cNvPr id="3" name="Text Placeholder 2"/>
          <p:cNvSpPr>
            <a:spLocks noGrp="1"/>
          </p:cNvSpPr>
          <p:nvPr>
            <p:ph type="body" idx="1"/>
          </p:nvPr>
        </p:nvSpPr>
        <p:spPr>
          <a:xfrm>
            <a:off x="818347" y="4732224"/>
            <a:ext cx="7511472" cy="1369836"/>
          </a:xfrm>
        </p:spPr>
        <p:txBody>
          <a:bodyPr anchor="t">
            <a:normAutofit/>
          </a:bodyPr>
          <a:lstStyle>
            <a:lvl1pPr marL="0" indent="0" algn="l">
              <a:buNone/>
              <a:defRPr sz="1600">
                <a:gradFill flip="none" rotWithShape="1">
                  <a:gsLst>
                    <a:gs pos="0">
                      <a:schemeClr val="tx1"/>
                    </a:gs>
                    <a:gs pos="100000">
                      <a:schemeClr val="tx1">
                        <a:lumMod val="75000"/>
                      </a:schemeClr>
                    </a:gs>
                  </a:gsLst>
                  <a:lin ang="5400000" scaled="0"/>
                  <a:tileRect/>
                </a:gra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9/28/25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48799758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Title 1"/>
          <p:cNvSpPr>
            <a:spLocks noGrp="1"/>
          </p:cNvSpPr>
          <p:nvPr>
            <p:ph type="title"/>
          </p:nvPr>
        </p:nvSpPr>
        <p:spPr>
          <a:xfrm>
            <a:off x="818347" y="596018"/>
            <a:ext cx="7511473" cy="1312480"/>
          </a:xfrm>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9/28/25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5627057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551708" y="596018"/>
            <a:ext cx="1778112" cy="5506042"/>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18347" y="596018"/>
            <a:ext cx="5624137" cy="5506042"/>
          </a:xfrm>
        </p:spPr>
        <p:txBody>
          <a:bodyPr vert="eaVert"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5BCAD085-E8A6-8845-BD4E-CB4CCA059FC4}" type="datetimeFigureOut">
              <a:rPr lang="en-US" smtClean="0"/>
              <a:t>9/28/25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84557589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8347" y="596018"/>
            <a:ext cx="7511473" cy="1312480"/>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18348" y="2060898"/>
            <a:ext cx="7511472" cy="4041162"/>
          </a:xfrm>
          <a:prstGeom prst="rect">
            <a:avLst/>
          </a:prstGeom>
        </p:spPr>
        <p:txBody>
          <a:bodyPr vert="horz" lIns="91440" tIns="45720" rIns="91440" bIns="45720" rtlCol="0" anchor="ctr">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6551708" y="6178260"/>
            <a:ext cx="1287464" cy="365125"/>
          </a:xfrm>
          <a:prstGeom prst="rect">
            <a:avLst/>
          </a:prstGeom>
        </p:spPr>
        <p:txBody>
          <a:bodyPr vert="horz" lIns="91440" tIns="45720" rIns="91440" bIns="45720" rtlCol="0" anchor="ctr"/>
          <a:lstStyle>
            <a:lvl1pPr algn="r">
              <a:defRPr sz="800" b="1" i="0">
                <a:solidFill>
                  <a:schemeClr val="tx1">
                    <a:lumMod val="75000"/>
                  </a:schemeClr>
                </a:solidFill>
                <a:effectLst>
                  <a:outerShdw blurRad="50800" dist="38100" dir="2700000" algn="tl" rotWithShape="0">
                    <a:srgbClr val="000000">
                      <a:alpha val="43000"/>
                    </a:srgbClr>
                  </a:outerShdw>
                </a:effectLst>
                <a:latin typeface="+mn-lt"/>
              </a:defRPr>
            </a:lvl1pPr>
          </a:lstStyle>
          <a:p>
            <a:fld id="{5BCAD085-E8A6-8845-BD4E-CB4CCA059FC4}" type="datetimeFigureOut">
              <a:rPr lang="en-US" smtClean="0"/>
              <a:t>9/28/25</a:t>
            </a:fld>
            <a:endParaRPr lang="en-US"/>
          </a:p>
        </p:txBody>
      </p:sp>
      <p:sp>
        <p:nvSpPr>
          <p:cNvPr id="5" name="Footer Placeholder 4"/>
          <p:cNvSpPr>
            <a:spLocks noGrp="1"/>
          </p:cNvSpPr>
          <p:nvPr>
            <p:ph type="ftr" sz="quarter" idx="3"/>
          </p:nvPr>
        </p:nvSpPr>
        <p:spPr>
          <a:xfrm>
            <a:off x="818347" y="6178260"/>
            <a:ext cx="5624137" cy="365125"/>
          </a:xfrm>
          <a:prstGeom prst="rect">
            <a:avLst/>
          </a:prstGeom>
        </p:spPr>
        <p:txBody>
          <a:bodyPr vert="horz" lIns="91440" tIns="45720" rIns="91440" bIns="45720" rtlCol="0" anchor="ctr"/>
          <a:lstStyle>
            <a:lvl1pPr algn="l">
              <a:defRPr sz="800" b="1" i="0">
                <a:solidFill>
                  <a:schemeClr val="tx1">
                    <a:lumMod val="75000"/>
                  </a:schemeClr>
                </a:solidFill>
                <a:effectLst>
                  <a:outerShdw blurRad="50800" dist="38100" dir="2700000" algn="tl" rotWithShape="0">
                    <a:srgbClr val="000000">
                      <a:alpha val="43000"/>
                    </a:srgbClr>
                  </a:outerShdw>
                </a:effectLst>
                <a:latin typeface="+mn-lt"/>
              </a:defRPr>
            </a:lvl1pPr>
          </a:lstStyle>
          <a:p>
            <a:endParaRPr lang="en-US"/>
          </a:p>
        </p:txBody>
      </p:sp>
      <p:sp>
        <p:nvSpPr>
          <p:cNvPr id="6" name="Slide Number Placeholder 5"/>
          <p:cNvSpPr>
            <a:spLocks noGrp="1"/>
          </p:cNvSpPr>
          <p:nvPr>
            <p:ph type="sldNum" sz="quarter" idx="4"/>
          </p:nvPr>
        </p:nvSpPr>
        <p:spPr>
          <a:xfrm>
            <a:off x="7917202" y="6178260"/>
            <a:ext cx="413483" cy="365125"/>
          </a:xfrm>
          <a:prstGeom prst="rect">
            <a:avLst/>
          </a:prstGeom>
        </p:spPr>
        <p:txBody>
          <a:bodyPr vert="horz" lIns="91440" tIns="45720" rIns="91440" bIns="45720" rtlCol="0" anchor="ctr"/>
          <a:lstStyle>
            <a:lvl1pPr algn="r">
              <a:defRPr sz="800" b="1" i="0">
                <a:solidFill>
                  <a:schemeClr val="tx1">
                    <a:lumMod val="75000"/>
                  </a:schemeClr>
                </a:solidFill>
                <a:effectLst>
                  <a:outerShdw blurRad="50800" dist="38100" dir="2700000" algn="tl" rotWithShape="0">
                    <a:srgbClr val="000000">
                      <a:alpha val="43000"/>
                    </a:srgbClr>
                  </a:outerShdw>
                </a:effectLst>
                <a:latin typeface="+mn-lt"/>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72780696"/>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l" defTabSz="457200" rtl="0" eaLnBrk="1" latinLnBrk="0" hangingPunct="1">
        <a:spcBef>
          <a:spcPct val="0"/>
        </a:spcBef>
        <a:buNone/>
        <a:defRPr sz="2800" kern="1200" cap="all">
          <a:ln w="3175" cmpd="sng">
            <a:noFill/>
          </a:ln>
          <a:gradFill flip="none" rotWithShape="1">
            <a:gsLst>
              <a:gs pos="0">
                <a:schemeClr val="tx1"/>
              </a:gs>
              <a:gs pos="100000">
                <a:schemeClr val="tx1">
                  <a:lumMod val="75000"/>
                </a:schemeClr>
              </a:gs>
            </a:gsLst>
            <a:lin ang="5400000" scaled="0"/>
            <a:tileRect/>
          </a:gradFill>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tx1"/>
        </a:buClr>
        <a:buSzPct val="130000"/>
        <a:buFont typeface="Arial"/>
        <a:buChar char="•"/>
        <a:defRPr sz="1800" kern="1200" cap="small">
          <a:gradFill flip="none" rotWithShape="1">
            <a:gsLst>
              <a:gs pos="0">
                <a:schemeClr val="tx1"/>
              </a:gs>
              <a:gs pos="100000">
                <a:schemeClr val="tx1">
                  <a:lumMod val="75000"/>
                </a:schemeClr>
              </a:gs>
            </a:gsLst>
            <a:lin ang="540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1pPr>
      <a:lvl2pPr marL="742950" indent="-285750" algn="l" defTabSz="457200" rtl="0" eaLnBrk="1" latinLnBrk="0" hangingPunct="1">
        <a:spcBef>
          <a:spcPct val="20000"/>
        </a:spcBef>
        <a:spcAft>
          <a:spcPts val="600"/>
        </a:spcAft>
        <a:buClr>
          <a:schemeClr val="tx1"/>
        </a:buClr>
        <a:buSzPct val="130000"/>
        <a:buFont typeface="Arial"/>
        <a:buChar char="•"/>
        <a:defRPr sz="1600" kern="1200" cap="small">
          <a:gradFill flip="none" rotWithShape="1">
            <a:gsLst>
              <a:gs pos="0">
                <a:schemeClr val="tx1"/>
              </a:gs>
              <a:gs pos="100000">
                <a:schemeClr val="tx1">
                  <a:lumMod val="75000"/>
                </a:schemeClr>
              </a:gs>
            </a:gsLst>
            <a:lin ang="540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2pPr>
      <a:lvl3pPr marL="1200150" indent="-285750" algn="l" defTabSz="457200" rtl="0" eaLnBrk="1" latinLnBrk="0" hangingPunct="1">
        <a:spcBef>
          <a:spcPct val="20000"/>
        </a:spcBef>
        <a:spcAft>
          <a:spcPts val="600"/>
        </a:spcAft>
        <a:buClr>
          <a:schemeClr val="tx1"/>
        </a:buClr>
        <a:buSzPct val="130000"/>
        <a:buFont typeface="Arial"/>
        <a:buChar char="•"/>
        <a:defRPr sz="1400" kern="1200" cap="small">
          <a:gradFill flip="none" rotWithShape="1">
            <a:gsLst>
              <a:gs pos="0">
                <a:schemeClr val="tx1"/>
              </a:gs>
              <a:gs pos="100000">
                <a:schemeClr val="tx1">
                  <a:lumMod val="75000"/>
                </a:schemeClr>
              </a:gs>
            </a:gsLst>
            <a:lin ang="540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3pPr>
      <a:lvl4pPr marL="1543050" indent="-171450" algn="l" defTabSz="457200" rtl="0" eaLnBrk="1" latinLnBrk="0" hangingPunct="1">
        <a:spcBef>
          <a:spcPct val="20000"/>
        </a:spcBef>
        <a:spcAft>
          <a:spcPts val="600"/>
        </a:spcAft>
        <a:buClr>
          <a:schemeClr val="tx1"/>
        </a:buClr>
        <a:buSzPct val="130000"/>
        <a:buFont typeface="Arial"/>
        <a:buChar char="•"/>
        <a:defRPr sz="1400" kern="1200" cap="small">
          <a:gradFill flip="none" rotWithShape="1">
            <a:gsLst>
              <a:gs pos="0">
                <a:schemeClr val="tx1"/>
              </a:gs>
              <a:gs pos="100000">
                <a:schemeClr val="tx1">
                  <a:lumMod val="75000"/>
                </a:schemeClr>
              </a:gs>
            </a:gsLst>
            <a:lin ang="540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4pPr>
      <a:lvl5pPr marL="2000250" indent="-171450" algn="l" defTabSz="457200" rtl="0" eaLnBrk="1" latinLnBrk="0" hangingPunct="1">
        <a:spcBef>
          <a:spcPct val="20000"/>
        </a:spcBef>
        <a:spcAft>
          <a:spcPts val="600"/>
        </a:spcAft>
        <a:buClr>
          <a:schemeClr val="tx1"/>
        </a:buClr>
        <a:buSzPct val="130000"/>
        <a:buFont typeface="Arial"/>
        <a:buChar char="•"/>
        <a:defRPr sz="1200" kern="1200" cap="small">
          <a:gradFill flip="none" rotWithShape="1">
            <a:gsLst>
              <a:gs pos="0">
                <a:schemeClr val="tx1"/>
              </a:gs>
              <a:gs pos="100000">
                <a:schemeClr val="tx1">
                  <a:lumMod val="75000"/>
                </a:schemeClr>
              </a:gs>
            </a:gsLst>
            <a:lin ang="540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5pPr>
      <a:lvl6pPr marL="2514600" indent="-228600" algn="l" defTabSz="457200" rtl="0" eaLnBrk="1" latinLnBrk="0" hangingPunct="1">
        <a:spcBef>
          <a:spcPct val="20000"/>
        </a:spcBef>
        <a:spcAft>
          <a:spcPts val="600"/>
        </a:spcAft>
        <a:buClr>
          <a:schemeClr val="tx1"/>
        </a:buClr>
        <a:buSzPct val="130000"/>
        <a:buFont typeface="Arial"/>
        <a:buChar char="•"/>
        <a:defRPr sz="1100" kern="1200" cap="small">
          <a:gradFill flip="none" rotWithShape="1">
            <a:gsLst>
              <a:gs pos="0">
                <a:schemeClr val="tx1"/>
              </a:gs>
              <a:gs pos="100000">
                <a:schemeClr val="tx1">
                  <a:lumMod val="75000"/>
                </a:schemeClr>
              </a:gs>
            </a:gsLst>
            <a:lin ang="540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6pPr>
      <a:lvl7pPr marL="2971800" indent="-228600" algn="l" defTabSz="457200" rtl="0" eaLnBrk="1" latinLnBrk="0" hangingPunct="1">
        <a:spcBef>
          <a:spcPct val="20000"/>
        </a:spcBef>
        <a:spcAft>
          <a:spcPts val="600"/>
        </a:spcAft>
        <a:buClr>
          <a:schemeClr val="tx1"/>
        </a:buClr>
        <a:buSzPct val="130000"/>
        <a:buFont typeface="Arial"/>
        <a:buChar char="•"/>
        <a:defRPr sz="1100" kern="1200" cap="small">
          <a:gradFill flip="none" rotWithShape="1">
            <a:gsLst>
              <a:gs pos="0">
                <a:schemeClr val="tx1"/>
              </a:gs>
              <a:gs pos="100000">
                <a:schemeClr val="tx1">
                  <a:lumMod val="75000"/>
                </a:schemeClr>
              </a:gs>
            </a:gsLst>
            <a:lin ang="540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7pPr>
      <a:lvl8pPr marL="3429000" indent="-228600" algn="l" defTabSz="457200" rtl="0" eaLnBrk="1" latinLnBrk="0" hangingPunct="1">
        <a:spcBef>
          <a:spcPct val="20000"/>
        </a:spcBef>
        <a:spcAft>
          <a:spcPts val="600"/>
        </a:spcAft>
        <a:buClr>
          <a:schemeClr val="tx1"/>
        </a:buClr>
        <a:buSzPct val="130000"/>
        <a:buFont typeface="Arial"/>
        <a:buChar char="•"/>
        <a:defRPr sz="1100" kern="1200" cap="small">
          <a:gradFill flip="none" rotWithShape="1">
            <a:gsLst>
              <a:gs pos="0">
                <a:schemeClr val="tx1"/>
              </a:gs>
              <a:gs pos="100000">
                <a:schemeClr val="tx1">
                  <a:lumMod val="75000"/>
                </a:schemeClr>
              </a:gs>
            </a:gsLst>
            <a:lin ang="540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8pPr>
      <a:lvl9pPr marL="3886200" indent="-228600" algn="l" defTabSz="457200" rtl="0" eaLnBrk="1" latinLnBrk="0" hangingPunct="1">
        <a:spcBef>
          <a:spcPct val="20000"/>
        </a:spcBef>
        <a:spcAft>
          <a:spcPts val="600"/>
        </a:spcAft>
        <a:buClr>
          <a:schemeClr val="tx1"/>
        </a:buClr>
        <a:buSzPct val="100000"/>
        <a:buFont typeface="Arial"/>
        <a:buChar char="•"/>
        <a:defRPr sz="1100" kern="1200" cap="small">
          <a:gradFill flip="none" rotWithShape="1">
            <a:gsLst>
              <a:gs pos="0">
                <a:schemeClr val="tx1"/>
              </a:gs>
              <a:gs pos="100000">
                <a:schemeClr val="tx1">
                  <a:lumMod val="75000"/>
                </a:schemeClr>
              </a:gs>
            </a:gsLst>
            <a:lin ang="5400000" scaled="0"/>
            <a:tileRect/>
          </a:gradFill>
          <a:effectLst>
            <a:glow rad="38100">
              <a:schemeClr val="bg1">
                <a:lumMod val="50000"/>
                <a:lumOff val="50000"/>
                <a:alpha val="20000"/>
              </a:schemeClr>
            </a:glow>
            <a:outerShdw blurRad="44450" dist="12700" dir="13860000" algn="tl" rotWithShape="0">
              <a:srgbClr val="000000">
                <a:alpha val="20000"/>
              </a:srgbClr>
            </a:outerShdw>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dirty="0"/>
              <a:t>Classifiers &amp; Frameworks</a:t>
            </a:r>
            <a:br>
              <a:rPr lang="en-US" dirty="0"/>
            </a:br>
            <a:r>
              <a:rPr lang="en-US"/>
              <a:t>HELLO</a:t>
            </a:r>
            <a:r>
              <a:t>Alfred</a:t>
            </a:r>
            <a:r>
              <a:rPr dirty="0" err="1"/>
              <a:t>.AI</a:t>
            </a:r>
            <a:endParaRPr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dirty="0"/>
              <a:t>Classifiers vs Frameworks </a:t>
            </a:r>
          </a:p>
        </p:txBody>
      </p:sp>
      <p:sp>
        <p:nvSpPr>
          <p:cNvPr id="3" name="Content Placeholder 2"/>
          <p:cNvSpPr>
            <a:spLocks noGrp="1"/>
          </p:cNvSpPr>
          <p:nvPr>
            <p:ph idx="1"/>
          </p:nvPr>
        </p:nvSpPr>
        <p:spPr/>
        <p:txBody>
          <a:bodyPr>
            <a:normAutofit/>
          </a:bodyPr>
          <a:lstStyle/>
          <a:p>
            <a:r>
              <a:rPr sz="1400" dirty="0"/>
              <a:t>Classifiers (labels)</a:t>
            </a:r>
          </a:p>
          <a:p>
            <a:pPr lvl="1"/>
            <a:r>
              <a:rPr sz="1400" dirty="0"/>
              <a:t>MINDSPACE mechanisms: Messenger, Incentives, Norms, Defaults, Salience, Priming, Affect, Commitments, Ego</a:t>
            </a:r>
          </a:p>
          <a:p>
            <a:pPr lvl="1"/>
            <a:r>
              <a:rPr sz="1400" dirty="0" err="1"/>
              <a:t>Münscher</a:t>
            </a:r>
            <a:r>
              <a:rPr sz="1400" dirty="0"/>
              <a:t>–Vetter–Scheuerle design-surface: Decision Information, Decision Structure, Decision Assistance</a:t>
            </a:r>
          </a:p>
          <a:p>
            <a:pPr lvl="1"/>
            <a:r>
              <a:rPr sz="1400" dirty="0"/>
              <a:t>Digital UI pattern taxonomy: preselection/defaults, ordering, microcopy, visual salience, just-in-time reminders</a:t>
            </a:r>
          </a:p>
          <a:p>
            <a:r>
              <a:rPr sz="1400" dirty="0"/>
              <a:t>Frameworks (how to work)</a:t>
            </a:r>
          </a:p>
          <a:p>
            <a:pPr lvl="1"/>
            <a:r>
              <a:rPr sz="1400" dirty="0"/>
              <a:t>EAST: Easy, Attractive, Social, Timely + test/learn cycle</a:t>
            </a:r>
          </a:p>
          <a:p>
            <a:pPr lvl="1"/>
            <a:r>
              <a:rPr sz="1400" dirty="0"/>
              <a:t>Test–Learn–Adapt for RCTs; JITAI for timing logic in mobile health</a:t>
            </a:r>
          </a:p>
          <a:p>
            <a:pPr lvl="1"/>
            <a:r>
              <a:rPr sz="1400" dirty="0"/>
              <a:t>Ethics: transparency &amp; mode-of-influence; digital-nudge guardrails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MINDSPACE — overview</a:t>
            </a:r>
          </a:p>
        </p:txBody>
      </p:sp>
      <p:sp>
        <p:nvSpPr>
          <p:cNvPr id="3" name="Content Placeholder 2"/>
          <p:cNvSpPr>
            <a:spLocks noGrp="1"/>
          </p:cNvSpPr>
          <p:nvPr>
            <p:ph idx="1"/>
          </p:nvPr>
        </p:nvSpPr>
        <p:spPr/>
        <p:txBody>
          <a:bodyPr>
            <a:normAutofit/>
          </a:bodyPr>
          <a:lstStyle/>
          <a:p>
            <a:r>
              <a:rPr sz="1400" dirty="0"/>
              <a:t>MINDSPACE: mechanism map</a:t>
            </a:r>
          </a:p>
          <a:p>
            <a:pPr lvl="1"/>
            <a:r>
              <a:rPr sz="1400" dirty="0"/>
              <a:t>Messenger — who says it matters</a:t>
            </a:r>
          </a:p>
          <a:p>
            <a:pPr lvl="1"/>
            <a:r>
              <a:rPr sz="1400" dirty="0"/>
              <a:t>Incentives — losses loom larger than gains</a:t>
            </a:r>
          </a:p>
          <a:p>
            <a:pPr lvl="1"/>
            <a:r>
              <a:rPr sz="1400" dirty="0"/>
              <a:t>Norms — 'people like you…' cues</a:t>
            </a:r>
          </a:p>
          <a:p>
            <a:pPr lvl="1"/>
            <a:r>
              <a:rPr sz="1400" dirty="0"/>
              <a:t>Defaults — preselected beneficial option</a:t>
            </a:r>
          </a:p>
          <a:p>
            <a:pPr lvl="1"/>
            <a:r>
              <a:rPr sz="1400" dirty="0"/>
              <a:t>Salience — make the next step obvious</a:t>
            </a:r>
          </a:p>
          <a:p>
            <a:pPr lvl="1"/>
            <a:r>
              <a:rPr sz="1400" dirty="0"/>
              <a:t>Priming — subtle cues (use sparingly)</a:t>
            </a:r>
          </a:p>
          <a:p>
            <a:pPr lvl="1"/>
            <a:r>
              <a:rPr sz="1400" dirty="0"/>
              <a:t>Affect — emotion and tone</a:t>
            </a:r>
          </a:p>
          <a:p>
            <a:pPr lvl="1"/>
            <a:r>
              <a:rPr sz="1400" dirty="0"/>
              <a:t>Commitments — pledges and plans</a:t>
            </a:r>
          </a:p>
          <a:p>
            <a:pPr lvl="1"/>
            <a:r>
              <a:rPr sz="1400" dirty="0"/>
              <a:t>Ego — identity alignment</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Affect (emotion) — how to design it</a:t>
            </a:r>
          </a:p>
        </p:txBody>
      </p:sp>
      <p:sp>
        <p:nvSpPr>
          <p:cNvPr id="3" name="Content Placeholder 2"/>
          <p:cNvSpPr>
            <a:spLocks noGrp="1"/>
          </p:cNvSpPr>
          <p:nvPr>
            <p:ph idx="1"/>
          </p:nvPr>
        </p:nvSpPr>
        <p:spPr/>
        <p:txBody>
          <a:bodyPr/>
          <a:lstStyle/>
          <a:p>
            <a:r>
              <a:rPr sz="1400" dirty="0"/>
              <a:t>Affect (emotion): increase motivation by pairing feelings with a clear action</a:t>
            </a:r>
          </a:p>
          <a:p>
            <a:r>
              <a:rPr sz="1400" dirty="0"/>
              <a:t>Design principles</a:t>
            </a:r>
          </a:p>
          <a:p>
            <a:pPr lvl="1"/>
            <a:r>
              <a:rPr sz="1400" dirty="0"/>
              <a:t>Use efficacy: always include the exact next step</a:t>
            </a:r>
          </a:p>
          <a:p>
            <a:pPr lvl="1"/>
            <a:r>
              <a:rPr sz="1400" dirty="0"/>
              <a:t>Keep tone supportive; avoid shame</a:t>
            </a:r>
          </a:p>
          <a:p>
            <a:pPr lvl="1"/>
            <a:r>
              <a:rPr sz="1400" dirty="0"/>
              <a:t>Make action low-effort (one-tap)</a:t>
            </a:r>
          </a:p>
          <a:p>
            <a:r>
              <a:rPr sz="1400" dirty="0"/>
              <a:t>Alfred patterns</a:t>
            </a:r>
          </a:p>
          <a:p>
            <a:pPr lvl="1"/>
            <a:r>
              <a:rPr sz="1400" dirty="0"/>
              <a:t>Diagnosis-adjacent copy: 'You did the hard part by getting screened—book the confirmatory test; it takes 10 minutes.'</a:t>
            </a:r>
          </a:p>
          <a:p>
            <a:pPr lvl="1"/>
            <a:r>
              <a:rPr sz="1400" dirty="0"/>
              <a:t>Visual salience: a simple step card + one-tap schedule</a:t>
            </a:r>
          </a:p>
          <a:p>
            <a:pPr lvl="1"/>
            <a:r>
              <a:rPr sz="1400" dirty="0"/>
              <a:t>Opt-out always visible</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Commitments — if–then planning that sticks</a:t>
            </a:r>
          </a:p>
        </p:txBody>
      </p:sp>
      <p:sp>
        <p:nvSpPr>
          <p:cNvPr id="3" name="Content Placeholder 2"/>
          <p:cNvSpPr>
            <a:spLocks noGrp="1"/>
          </p:cNvSpPr>
          <p:nvPr>
            <p:ph idx="1"/>
          </p:nvPr>
        </p:nvSpPr>
        <p:spPr/>
        <p:txBody>
          <a:bodyPr/>
          <a:lstStyle/>
          <a:p>
            <a:r>
              <a:rPr sz="1400" dirty="0"/>
              <a:t>Commitments: if–then planning to remove choice friction at action time</a:t>
            </a:r>
          </a:p>
          <a:p>
            <a:r>
              <a:rPr sz="1400" dirty="0"/>
              <a:t>Design principles</a:t>
            </a:r>
          </a:p>
          <a:p>
            <a:pPr lvl="1"/>
            <a:r>
              <a:rPr sz="1400" dirty="0"/>
              <a:t>Micro-pledge phrasing: 'If it is 7 pm, then I take my dose with dinner.'</a:t>
            </a:r>
          </a:p>
          <a:p>
            <a:pPr lvl="1"/>
            <a:r>
              <a:rPr sz="1400" dirty="0"/>
              <a:t>Capture plan fields: cue, time anchor, location, backup</a:t>
            </a:r>
          </a:p>
          <a:p>
            <a:pPr lvl="1"/>
            <a:r>
              <a:rPr sz="1400" dirty="0"/>
              <a:t>Follow through: timely check-ins &amp; streaks</a:t>
            </a:r>
          </a:p>
          <a:p>
            <a:r>
              <a:rPr sz="1400" dirty="0"/>
              <a:t>Alfred patterns</a:t>
            </a:r>
          </a:p>
          <a:p>
            <a:pPr lvl="1"/>
            <a:r>
              <a:rPr sz="1400" dirty="0"/>
              <a:t>Commitment micro-flow at enrollment + lock-screen reminder preview</a:t>
            </a:r>
          </a:p>
          <a:p>
            <a:pPr lvl="1"/>
            <a:r>
              <a:rPr sz="1400" dirty="0"/>
              <a:t>Optional deposit/earn designs for tough behaviors (pilot only, ethical safeguards)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Ego &amp; Identity</a:t>
            </a:r>
          </a:p>
        </p:txBody>
      </p:sp>
      <p:sp>
        <p:nvSpPr>
          <p:cNvPr id="3" name="Content Placeholder 2"/>
          <p:cNvSpPr>
            <a:spLocks noGrp="1"/>
          </p:cNvSpPr>
          <p:nvPr>
            <p:ph idx="1"/>
          </p:nvPr>
        </p:nvSpPr>
        <p:spPr/>
        <p:txBody>
          <a:bodyPr>
            <a:normAutofit/>
          </a:bodyPr>
          <a:lstStyle/>
          <a:p>
            <a:r>
              <a:rPr sz="1400" dirty="0"/>
              <a:t>Ego: align actions with identity and values</a:t>
            </a:r>
          </a:p>
          <a:p>
            <a:r>
              <a:rPr sz="1400" dirty="0"/>
              <a:t>Design principles</a:t>
            </a:r>
          </a:p>
          <a:p>
            <a:pPr lvl="1"/>
            <a:r>
              <a:rPr sz="1400" dirty="0"/>
              <a:t>Identity framing: 'Show up as the kind of partner who…'</a:t>
            </a:r>
          </a:p>
          <a:p>
            <a:pPr lvl="1"/>
            <a:r>
              <a:rPr sz="1400" dirty="0"/>
              <a:t>Self-affirmation prompt before tough advice</a:t>
            </a:r>
          </a:p>
          <a:p>
            <a:pPr lvl="1"/>
            <a:r>
              <a:rPr sz="1400" dirty="0"/>
              <a:t>Respect autonomy; avoid moralizing</a:t>
            </a:r>
          </a:p>
          <a:p>
            <a:r>
              <a:rPr sz="1400" dirty="0"/>
              <a:t>Alfred patterns</a:t>
            </a:r>
          </a:p>
          <a:p>
            <a:pPr lvl="1"/>
            <a:r>
              <a:rPr sz="1400" dirty="0"/>
              <a:t>Short reflection prompt before sensitive nudges (sleep, alcohol, activity)</a:t>
            </a:r>
          </a:p>
          <a:p>
            <a:pPr lvl="1"/>
            <a:r>
              <a:rPr sz="1400" dirty="0"/>
              <a:t>Positive identity cues in copy and progress visuals</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Norms &amp; Messenger — social proof + credibility</a:t>
            </a:r>
          </a:p>
        </p:txBody>
      </p:sp>
      <p:sp>
        <p:nvSpPr>
          <p:cNvPr id="3" name="Content Placeholder 2"/>
          <p:cNvSpPr>
            <a:spLocks noGrp="1"/>
          </p:cNvSpPr>
          <p:nvPr>
            <p:ph idx="1"/>
          </p:nvPr>
        </p:nvSpPr>
        <p:spPr/>
        <p:txBody>
          <a:bodyPr>
            <a:normAutofit/>
          </a:bodyPr>
          <a:lstStyle/>
          <a:p>
            <a:r>
              <a:rPr sz="1400" dirty="0"/>
              <a:t>Norms &amp; Messenger: social proof + credibility</a:t>
            </a:r>
          </a:p>
          <a:p>
            <a:r>
              <a:rPr sz="1400" dirty="0"/>
              <a:t>Norms design</a:t>
            </a:r>
          </a:p>
          <a:p>
            <a:pPr lvl="1"/>
            <a:r>
              <a:rPr sz="1400" dirty="0"/>
              <a:t>Use descriptive norms carefully; add injunctive cues to prevent backfire</a:t>
            </a:r>
          </a:p>
          <a:p>
            <a:pPr lvl="1"/>
            <a:r>
              <a:rPr sz="1400" dirty="0"/>
              <a:t>Personalize peer group ('people like you')</a:t>
            </a:r>
          </a:p>
          <a:p>
            <a:r>
              <a:rPr sz="1400" dirty="0"/>
              <a:t>Messenger design</a:t>
            </a:r>
          </a:p>
          <a:p>
            <a:pPr lvl="1"/>
            <a:r>
              <a:rPr sz="1400" dirty="0"/>
              <a:t>Sign clinical nudges from a recognized clinician or clinic brand</a:t>
            </a:r>
          </a:p>
          <a:p>
            <a:pPr lvl="1"/>
            <a:r>
              <a:rPr sz="1400" dirty="0"/>
              <a:t>Use app voice for tips/education</a:t>
            </a:r>
          </a:p>
          <a:p>
            <a:r>
              <a:rPr sz="1400" dirty="0"/>
              <a:t>Alfred patterns</a:t>
            </a:r>
          </a:p>
          <a:p>
            <a:pPr lvl="1"/>
            <a:r>
              <a:rPr sz="1400" dirty="0"/>
              <a:t>Social comparison card + 'Great job' injunctive badge when performance is high</a:t>
            </a:r>
          </a:p>
          <a:p>
            <a:pPr lvl="1"/>
            <a:r>
              <a:rPr sz="1400" dirty="0"/>
              <a:t>Source label routing by message type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Defaults &amp; Effort — make the right thing the easy thing</a:t>
            </a:r>
          </a:p>
        </p:txBody>
      </p:sp>
      <p:sp>
        <p:nvSpPr>
          <p:cNvPr id="3" name="Content Placeholder 2"/>
          <p:cNvSpPr>
            <a:spLocks noGrp="1"/>
          </p:cNvSpPr>
          <p:nvPr>
            <p:ph idx="1"/>
          </p:nvPr>
        </p:nvSpPr>
        <p:spPr/>
        <p:txBody>
          <a:bodyPr>
            <a:normAutofit/>
          </a:bodyPr>
          <a:lstStyle/>
          <a:p>
            <a:r>
              <a:rPr dirty="0"/>
              <a:t>Defaults &amp; Effort: structure beats intention</a:t>
            </a:r>
          </a:p>
          <a:p>
            <a:r>
              <a:rPr dirty="0"/>
              <a:t>Design principles</a:t>
            </a:r>
          </a:p>
          <a:p>
            <a:pPr lvl="1"/>
            <a:r>
              <a:rPr dirty="0"/>
              <a:t>Default low-risk conveniences ON with transparent opt-out</a:t>
            </a:r>
          </a:p>
          <a:p>
            <a:pPr lvl="1"/>
            <a:r>
              <a:rPr dirty="0"/>
              <a:t>Pre-schedule helpful actions and let users confirm/reschedule</a:t>
            </a:r>
          </a:p>
          <a:p>
            <a:pPr lvl="1"/>
            <a:r>
              <a:rPr dirty="0"/>
              <a:t>Remind before action; one-tap cancel/change</a:t>
            </a:r>
          </a:p>
          <a:p>
            <a:r>
              <a:rPr dirty="0"/>
              <a:t>Alfred patterns</a:t>
            </a:r>
          </a:p>
          <a:p>
            <a:pPr lvl="1"/>
            <a:r>
              <a:rPr dirty="0"/>
              <a:t>Auto-refill ON by default; saved pharmacy</a:t>
            </a:r>
          </a:p>
          <a:p>
            <a:pPr lvl="1"/>
            <a:r>
              <a:rPr dirty="0"/>
              <a:t>Draft follow-up slot after abnormal reading</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Salience &amp; Priming — use, but be selective</a:t>
            </a:r>
          </a:p>
        </p:txBody>
      </p:sp>
      <p:sp>
        <p:nvSpPr>
          <p:cNvPr id="3" name="Content Placeholder 2"/>
          <p:cNvSpPr>
            <a:spLocks noGrp="1"/>
          </p:cNvSpPr>
          <p:nvPr>
            <p:ph idx="1"/>
          </p:nvPr>
        </p:nvSpPr>
        <p:spPr/>
        <p:txBody>
          <a:bodyPr/>
          <a:lstStyle/>
          <a:p>
            <a:r>
              <a:t>Salience &amp; Priming: clarity over cleverness</a:t>
            </a:r>
          </a:p>
          <a:p>
            <a:r>
              <a:t>Salience</a:t>
            </a:r>
          </a:p>
          <a:p>
            <a:pPr lvl="1"/>
            <a:r>
              <a:t>One 'next best action' card at top of feed</a:t>
            </a:r>
          </a:p>
          <a:p>
            <a:pPr lvl="1"/>
            <a:r>
              <a:t>Progressive disclosure; deadline timers when appropriate</a:t>
            </a:r>
          </a:p>
          <a:p>
            <a:r>
              <a:t>Priming</a:t>
            </a:r>
          </a:p>
          <a:p>
            <a:pPr lvl="1"/>
            <a:r>
              <a:t>Use sparingly; mixed replicability</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EAST — deployment checklist</a:t>
            </a:r>
          </a:p>
        </p:txBody>
      </p:sp>
      <p:sp>
        <p:nvSpPr>
          <p:cNvPr id="3" name="Content Placeholder 2"/>
          <p:cNvSpPr>
            <a:spLocks noGrp="1"/>
          </p:cNvSpPr>
          <p:nvPr>
            <p:ph idx="1"/>
          </p:nvPr>
        </p:nvSpPr>
        <p:spPr/>
        <p:txBody>
          <a:bodyPr>
            <a:normAutofit/>
          </a:bodyPr>
          <a:lstStyle/>
          <a:p>
            <a:r>
              <a:t>EAST: our deployment checklist</a:t>
            </a:r>
          </a:p>
          <a:p>
            <a:pPr lvl="1"/>
            <a:r>
              <a:t>Easy — one-tap scheduling; pre-filled forms; saved preferences</a:t>
            </a:r>
          </a:p>
          <a:p>
            <a:pPr lvl="1"/>
            <a:r>
              <a:t>Attractive — clear benefit-first copy; salient CTA; minimal clutter</a:t>
            </a:r>
          </a:p>
          <a:p>
            <a:pPr lvl="1"/>
            <a:r>
              <a:t>Social — norms and commitments where appropriate</a:t>
            </a:r>
          </a:p>
          <a:p>
            <a:pPr lvl="1"/>
            <a:r>
              <a:t>Timely — send at receptive moments; respect rhythms (JITAI)</a:t>
            </a:r>
          </a:p>
          <a:p>
            <a:pPr lvl="1"/>
            <a:r>
              <a:t>Process — Define → Understand → Build → Test → Adapt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Design-surface coverage — avoid 'message-only'</a:t>
            </a:r>
          </a:p>
        </p:txBody>
      </p:sp>
      <p:sp>
        <p:nvSpPr>
          <p:cNvPr id="3" name="Content Placeholder 2"/>
          <p:cNvSpPr>
            <a:spLocks noGrp="1"/>
          </p:cNvSpPr>
          <p:nvPr>
            <p:ph idx="1"/>
          </p:nvPr>
        </p:nvSpPr>
        <p:spPr/>
        <p:txBody>
          <a:bodyPr>
            <a:normAutofit/>
          </a:bodyPr>
          <a:lstStyle/>
          <a:p>
            <a:r>
              <a:t>Design-surface coverage (Münscher–Vetter–Scheuerle)</a:t>
            </a:r>
          </a:p>
          <a:p>
            <a:pPr lvl="1"/>
            <a:r>
              <a:t>Decision Information — framing, ordering, social proof, feedback</a:t>
            </a:r>
          </a:p>
          <a:p>
            <a:pPr lvl="1"/>
            <a:r>
              <a:t>Decision Structure — defaults, partitioning, effort, incentives</a:t>
            </a:r>
          </a:p>
          <a:p>
            <a:pPr lvl="1"/>
            <a:r>
              <a:t>Decision Assistance — reminders, planning prompts, commitments</a:t>
            </a:r>
          </a:p>
          <a:p>
            <a:r>
              <a:t>Aim to combine Information + Structure + Assistance for stronger effects</a:t>
            </a:r>
          </a:p>
          <a:p>
            <a:r>
              <a:t>Examples</a:t>
            </a:r>
          </a:p>
          <a:p>
            <a:pPr lvl="1"/>
            <a:r>
              <a:t>Refills: Structure (auto-refill) + Assistance (reminders)</a:t>
            </a:r>
          </a:p>
          <a:p>
            <a:pPr lvl="1"/>
            <a:r>
              <a:t>Confirmatory test: Structure (pre-book) + Information (clear prep)</a:t>
            </a:r>
          </a:p>
          <a:p>
            <a:pPr lvl="1"/>
            <a:r>
              <a:t>Lifestyle coaching: Assistance (commitments) + Information (feedback)</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Measurement &amp; evidence — test, learn, adapt</a:t>
            </a:r>
          </a:p>
        </p:txBody>
      </p:sp>
      <p:sp>
        <p:nvSpPr>
          <p:cNvPr id="3" name="Content Placeholder 2"/>
          <p:cNvSpPr>
            <a:spLocks noGrp="1"/>
          </p:cNvSpPr>
          <p:nvPr>
            <p:ph idx="1"/>
          </p:nvPr>
        </p:nvSpPr>
        <p:spPr/>
        <p:txBody>
          <a:bodyPr>
            <a:normAutofit/>
          </a:bodyPr>
          <a:lstStyle/>
          <a:p>
            <a:r>
              <a:t>Measurement &amp; evidence — what to expect</a:t>
            </a:r>
          </a:p>
          <a:p>
            <a:pPr lvl="1"/>
            <a:r>
              <a:t>Average nudge effects are small–moderate; context heterogeneity is large</a:t>
            </a:r>
          </a:p>
          <a:p>
            <a:pPr lvl="1"/>
            <a:r>
              <a:t>Use lightweight RCTs (Test–Learn–Adapt); pre-register outcomes</a:t>
            </a:r>
          </a:p>
          <a:p>
            <a:pPr lvl="1"/>
            <a:r>
              <a:t>Instrument funnel: delivery → open → click → completion</a:t>
            </a:r>
          </a:p>
          <a:p>
            <a:pPr lvl="1"/>
            <a:r>
              <a:t>Core metrics: adherence (e.g., PDC), appointment completion, time-to-test; segment by cohort</a:t>
            </a:r>
          </a:p>
          <a:p>
            <a:pPr lvl="1"/>
            <a:r>
              <a:t>Guardrails: opt-out rate, complaints, disparity checks</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Governance &amp; ethics — trust by design</a:t>
            </a:r>
          </a:p>
        </p:txBody>
      </p:sp>
      <p:sp>
        <p:nvSpPr>
          <p:cNvPr id="3" name="Content Placeholder 2"/>
          <p:cNvSpPr>
            <a:spLocks noGrp="1"/>
          </p:cNvSpPr>
          <p:nvPr>
            <p:ph idx="1"/>
          </p:nvPr>
        </p:nvSpPr>
        <p:spPr/>
        <p:txBody>
          <a:bodyPr/>
          <a:lstStyle/>
          <a:p>
            <a:r>
              <a:t>Governance &amp; ethics — built in, not bolted on</a:t>
            </a:r>
          </a:p>
          <a:p>
            <a:pPr lvl="1"/>
            <a:r>
              <a:t>Transparency × Automaticity: prefer transparent, reflective nudges</a:t>
            </a:r>
          </a:p>
          <a:p>
            <a:pPr lvl="1"/>
            <a:r>
              <a:t>Digital guardrails: purpose limitation, short explanation, easy opt-out, fairness checks</a:t>
            </a:r>
          </a:p>
          <a:p>
            <a:pPr lvl="1"/>
            <a:r>
              <a:t>Operationalize: 'Ethics Tag' + disclosure line + audit logs</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t>Alfred.AI nudge spec — the build template</a:t>
            </a:r>
          </a:p>
        </p:txBody>
      </p:sp>
      <p:sp>
        <p:nvSpPr>
          <p:cNvPr id="3" name="Content Placeholder 2"/>
          <p:cNvSpPr>
            <a:spLocks noGrp="1"/>
          </p:cNvSpPr>
          <p:nvPr>
            <p:ph idx="1"/>
          </p:nvPr>
        </p:nvSpPr>
        <p:spPr/>
        <p:txBody>
          <a:bodyPr>
            <a:normAutofit/>
          </a:bodyPr>
          <a:lstStyle/>
          <a:p>
            <a:r>
              <a:t>Alfred.AI nudge spec (per catalog entry)</a:t>
            </a:r>
          </a:p>
          <a:p>
            <a:pPr lvl="1"/>
            <a:r>
              <a:t>Trigger: event + eligibility (e.g., abnormal reading + no follow-up booked)</a:t>
            </a:r>
          </a:p>
          <a:p>
            <a:pPr lvl="1"/>
            <a:r>
              <a:t>Classifier tags: MINDSPACE (e.g., Defaults + Salience); Design family (Structure + Assistance)</a:t>
            </a:r>
          </a:p>
          <a:p>
            <a:pPr lvl="1"/>
            <a:r>
              <a:t>Copy: 1-line benefit + one-tap action + ethical disclosure</a:t>
            </a:r>
          </a:p>
          <a:p>
            <a:pPr lvl="1"/>
            <a:r>
              <a:t>Timing: JITAI rule (e.g., evening window; skip if &gt;2 nudges today)</a:t>
            </a:r>
          </a:p>
          <a:p>
            <a:pPr lvl="1"/>
            <a:r>
              <a:t>Messenger: clinician/clinic vs app voice</a:t>
            </a:r>
          </a:p>
          <a:p>
            <a:pPr lvl="1"/>
            <a:r>
              <a:t>Metrics: primary &amp; guardrail; segmentation plan</a:t>
            </a:r>
          </a:p>
          <a:p>
            <a:pPr lvl="1"/>
            <a:r>
              <a:t>Ethics Tag: transparency, opt-out, accessibility</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Reference</a:t>
            </a:r>
            <a:r>
              <a:rPr lang="en-US" dirty="0"/>
              <a:t>s</a:t>
            </a:r>
            <a:endParaRPr dirty="0"/>
          </a:p>
        </p:txBody>
      </p:sp>
      <p:sp>
        <p:nvSpPr>
          <p:cNvPr id="3" name="Content Placeholder 2"/>
          <p:cNvSpPr>
            <a:spLocks noGrp="1"/>
          </p:cNvSpPr>
          <p:nvPr>
            <p:ph idx="1"/>
          </p:nvPr>
        </p:nvSpPr>
        <p:spPr/>
        <p:txBody>
          <a:bodyPr>
            <a:normAutofit/>
          </a:bodyPr>
          <a:lstStyle/>
          <a:p>
            <a:r>
              <a:t>Key sources (selected)</a:t>
            </a:r>
          </a:p>
          <a:p>
            <a:pPr lvl="1"/>
            <a:r>
              <a:t>MINDSPACE — Institute for Government (2010)</a:t>
            </a:r>
          </a:p>
          <a:p>
            <a:pPr lvl="1"/>
            <a:r>
              <a:t>EAST — Behavioural Insights Team (2014/2015)</a:t>
            </a:r>
          </a:p>
          <a:p>
            <a:pPr lvl="1"/>
            <a:r>
              <a:t>Choice architecture taxonomy — Münscher, Vetter &amp; Scheuerle (2016)</a:t>
            </a:r>
          </a:p>
          <a:p>
            <a:pPr lvl="1"/>
            <a:r>
              <a:t>Digital nudging — Weinmann, Schneider &amp; vom Brocke (2016)</a:t>
            </a:r>
          </a:p>
          <a:p>
            <a:pPr lvl="1"/>
            <a:r>
              <a:t>JITAI — Nahum-Shani et al. (mobile health timing logic)</a:t>
            </a:r>
          </a:p>
          <a:p>
            <a:pPr lvl="1"/>
            <a:r>
              <a:t>Meta-analyses of nudge effects — recent overviews</a:t>
            </a:r>
          </a:p>
        </p:txBody>
      </p:sp>
    </p:spTree>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Mesh">
  <a:themeElements>
    <a:clrScheme name="Mesh">
      <a:dk1>
        <a:sysClr val="windowText" lastClr="000000"/>
      </a:dk1>
      <a:lt1>
        <a:sysClr val="window" lastClr="FFFFFF"/>
      </a:lt1>
      <a:dk2>
        <a:srgbClr val="363D46"/>
      </a:dk2>
      <a:lt2>
        <a:srgbClr val="EBEBEB"/>
      </a:lt2>
      <a:accent1>
        <a:srgbClr val="6F6F6F"/>
      </a:accent1>
      <a:accent2>
        <a:srgbClr val="BFBFA5"/>
      </a:accent2>
      <a:accent3>
        <a:srgbClr val="DCD084"/>
      </a:accent3>
      <a:accent4>
        <a:srgbClr val="E7BF5F"/>
      </a:accent4>
      <a:accent5>
        <a:srgbClr val="E9A039"/>
      </a:accent5>
      <a:accent6>
        <a:srgbClr val="CF7133"/>
      </a:accent6>
      <a:hlink>
        <a:srgbClr val="F28943"/>
      </a:hlink>
      <a:folHlink>
        <a:srgbClr val="F1B76C"/>
      </a:folHlink>
    </a:clrScheme>
    <a:fontScheme name="Mesh">
      <a:maj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entury Gothic" panose="020B0502020202020204"/>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Mesh">
      <a:fillStyleLst>
        <a:solidFill>
          <a:schemeClr val="phClr"/>
        </a:solidFill>
        <a:gradFill rotWithShape="1">
          <a:gsLst>
            <a:gs pos="0">
              <a:schemeClr val="phClr">
                <a:tint val="60000"/>
                <a:lumMod val="110000"/>
              </a:schemeClr>
            </a:gs>
            <a:gs pos="100000">
              <a:schemeClr val="phClr">
                <a:tint val="82000"/>
              </a:schemeClr>
            </a:gs>
          </a:gsLst>
          <a:lin ang="5400000" scaled="0"/>
        </a:gradFill>
        <a:gradFill rotWithShape="1">
          <a:gsLst>
            <a:gs pos="0">
              <a:schemeClr val="phClr">
                <a:tint val="96000"/>
                <a:lumMod val="104000"/>
              </a:schemeClr>
            </a:gs>
            <a:gs pos="100000">
              <a:schemeClr val="phClr">
                <a:shade val="84000"/>
                <a:lumMod val="84000"/>
              </a:schemeClr>
            </a:gs>
          </a:gsLst>
          <a:lin ang="5400000" scaled="0"/>
        </a:gradFill>
      </a:fillStyleLst>
      <a:lnStyleLst>
        <a:ln w="9525" cap="rnd" cmpd="sng" algn="ctr">
          <a:solidFill>
            <a:schemeClr val="phClr"/>
          </a:solidFill>
          <a:prstDash val="solid"/>
        </a:ln>
        <a:ln w="19050" cap="rnd" cmpd="sng" algn="ctr">
          <a:solidFill>
            <a:schemeClr val="phClr"/>
          </a:solidFill>
          <a:prstDash val="solid"/>
        </a:ln>
        <a:ln w="25400" cap="rnd" cmpd="sng" algn="ctr">
          <a:solidFill>
            <a:schemeClr val="phClr"/>
          </a:solidFill>
          <a:prstDash val="solid"/>
        </a:ln>
      </a:lnStyleLst>
      <a:effectStyleLst>
        <a:effectStyle>
          <a:effectLst/>
        </a:effectStyle>
        <a:effectStyle>
          <a:effectLst>
            <a:innerShdw blurRad="50800" dist="25400" dir="13500000">
              <a:srgbClr val="000000">
                <a:alpha val="55000"/>
              </a:srgbClr>
            </a:innerShdw>
          </a:effectLst>
        </a:effectStyle>
        <a:effectStyle>
          <a:effectLst>
            <a:outerShdw blurRad="50800" dist="38100" dir="5400000" rotWithShape="0">
              <a:srgbClr val="000000">
                <a:alpha val="60000"/>
              </a:srgbClr>
            </a:outerShdw>
          </a:effectLst>
          <a:scene3d>
            <a:camera prst="orthographicFront">
              <a:rot lat="0" lon="0" rev="0"/>
            </a:camera>
            <a:lightRig rig="threePt" dir="tl"/>
          </a:scene3d>
          <a:sp3d>
            <a:bevelT w="25400" h="25400" prst="slope"/>
          </a:sp3d>
        </a:effectStyle>
      </a:effectStyleLst>
      <a:bgFillStyleLst>
        <a:solidFill>
          <a:schemeClr val="phClr"/>
        </a:solidFill>
        <a:gradFill rotWithShape="1">
          <a:gsLst>
            <a:gs pos="0">
              <a:schemeClr val="phClr">
                <a:tint val="90000"/>
                <a:lumMod val="110000"/>
              </a:schemeClr>
            </a:gs>
            <a:gs pos="100000">
              <a:schemeClr val="phClr">
                <a:shade val="64000"/>
                <a:lumMod val="98000"/>
              </a:schemeClr>
            </a:gs>
          </a:gsLst>
          <a:lin ang="5400000" scaled="0"/>
        </a:gradFill>
        <a:blipFill rotWithShape="1">
          <a:blip xmlns:r="http://schemas.openxmlformats.org/officeDocument/2006/relationships" r:embed="rId1">
            <a:duotone>
              <a:schemeClr val="phClr">
                <a:shade val="28000"/>
                <a:satMod val="94000"/>
                <a:lumMod val="20000"/>
              </a:schemeClr>
              <a:schemeClr val="phClr">
                <a:tint val="94000"/>
                <a:shade val="84000"/>
                <a:satMod val="148000"/>
                <a:lumMod val="114000"/>
              </a:schemeClr>
            </a:duotone>
          </a:blip>
          <a:stretch/>
        </a:blipFill>
      </a:bgFillStyleLst>
    </a:fmtScheme>
  </a:themeElements>
  <a:objectDefaults/>
  <a:extraClrSchemeLst/>
  <a:extLst>
    <a:ext uri="{05A4C25C-085E-4340-85A3-A5531E510DB2}">
      <thm15:themeFamily xmlns:thm15="http://schemas.microsoft.com/office/thememl/2012/main" name="Mesh" id="{789EC3FE-34FD-429C-9918-760025E6C145}" vid="{B8BE45C0-8141-4D58-8C71-A009BC26FBBB}"/>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Mesh</Template>
  <TotalTime>957</TotalTime>
  <Words>1627</Words>
  <Application>Microsoft Macintosh PowerPoint</Application>
  <PresentationFormat>On-screen Show (4:3)</PresentationFormat>
  <Paragraphs>136</Paragraphs>
  <Slides>15</Slides>
  <Notes>15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15</vt:i4>
      </vt:variant>
    </vt:vector>
  </HeadingPairs>
  <TitlesOfParts>
    <vt:vector size="18" baseType="lpstr">
      <vt:lpstr>Arial</vt:lpstr>
      <vt:lpstr>Century Gothic</vt:lpstr>
      <vt:lpstr>Mesh</vt:lpstr>
      <vt:lpstr>Classifiers &amp; Frameworks HELLOAlfred.AI</vt:lpstr>
      <vt:lpstr>Classifiers vs Frameworks </vt:lpstr>
      <vt:lpstr>MINDSPACE — overview</vt:lpstr>
      <vt:lpstr>Affect (emotion) — how to design it</vt:lpstr>
      <vt:lpstr>Commitments — if–then planning that sticks</vt:lpstr>
      <vt:lpstr>Ego &amp; Identity</vt:lpstr>
      <vt:lpstr>Norms &amp; Messenger — social proof + credibility</vt:lpstr>
      <vt:lpstr>Defaults &amp; Effort — make the right thing the easy thing</vt:lpstr>
      <vt:lpstr>Salience &amp; Priming — use, but be selective</vt:lpstr>
      <vt:lpstr>EAST — deployment checklist</vt:lpstr>
      <vt:lpstr>Design-surface coverage — avoid 'message-only'</vt:lpstr>
      <vt:lpstr>Measurement &amp; evidence — test, learn, adapt</vt:lpstr>
      <vt:lpstr>Governance &amp; ethics — trust by design</vt:lpstr>
      <vt:lpstr>Alfred.AI nudge spec — the build template</vt:lpstr>
      <vt:lpstr>References</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Arshia Yogini Thota</cp:lastModifiedBy>
  <cp:revision>2</cp:revision>
  <dcterms:created xsi:type="dcterms:W3CDTF">2013-01-27T09:14:16Z</dcterms:created>
  <dcterms:modified xsi:type="dcterms:W3CDTF">2025-09-29T14:42:25Z</dcterms:modified>
  <cp:category/>
</cp:coreProperties>
</file>